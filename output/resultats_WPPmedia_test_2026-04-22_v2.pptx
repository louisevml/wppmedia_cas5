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41E93-E1FE-4BA9-8217-D55B7C2A1F8F}" v="3" dt="2026-04-22T09:54:1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Quelles sont toutes les marques d’aliments pour ANIMAL que vous connaissez ne serait-ce que de nom 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20.555288142308271</c:v>
                </c:pt>
                <c:pt idx="1">
                  <c:v>12.632980238260268</c:v>
                </c:pt>
                <c:pt idx="2">
                  <c:v>12.014435459945021</c:v>
                </c:pt>
                <c:pt idx="3">
                  <c:v>7.0620599842790215</c:v>
                </c:pt>
                <c:pt idx="4">
                  <c:v>7.0004079880861907</c:v>
                </c:pt>
                <c:pt idx="5">
                  <c:v>6.9243649242117664</c:v>
                </c:pt>
                <c:pt idx="6">
                  <c:v>5.9467923944249872</c:v>
                </c:pt>
                <c:pt idx="7">
                  <c:v>4.319866646272323</c:v>
                </c:pt>
                <c:pt idx="8">
                  <c:v>3.2718817078553704</c:v>
                </c:pt>
                <c:pt idx="9">
                  <c:v>2.6056347541347358</c:v>
                </c:pt>
                <c:pt idx="10">
                  <c:v>2.5796201022935152</c:v>
                </c:pt>
                <c:pt idx="11">
                  <c:v>1.850925151144367</c:v>
                </c:pt>
                <c:pt idx="12">
                  <c:v>1.7328534606978339</c:v>
                </c:pt>
                <c:pt idx="13">
                  <c:v>1.5353975999005591</c:v>
                </c:pt>
                <c:pt idx="14">
                  <c:v>1.528656770897078</c:v>
                </c:pt>
                <c:pt idx="15">
                  <c:v>1.4214246793177321</c:v>
                </c:pt>
                <c:pt idx="16">
                  <c:v>1.271958549304367</c:v>
                </c:pt>
                <c:pt idx="17">
                  <c:v>1.1281327398591969</c:v>
                </c:pt>
                <c:pt idx="18">
                  <c:v>0.95080460850823589</c:v>
                </c:pt>
                <c:pt idx="19">
                  <c:v>0.92193544019636997</c:v>
                </c:pt>
                <c:pt idx="20">
                  <c:v>0.81567014119512649</c:v>
                </c:pt>
                <c:pt idx="21">
                  <c:v>0.69783330782119235</c:v>
                </c:pt>
                <c:pt idx="22">
                  <c:v>0.67398750926689388</c:v>
                </c:pt>
                <c:pt idx="23">
                  <c:v>0.55708769981965289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B6-4CC0-AC1C-433E9F7CA5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26.112148796914731</c:v>
                </c:pt>
                <c:pt idx="1">
                  <c:v>12.03227640191376</c:v>
                </c:pt>
                <c:pt idx="2">
                  <c:v>9.6735850741673239</c:v>
                </c:pt>
                <c:pt idx="3">
                  <c:v>5.567163297940616</c:v>
                </c:pt>
                <c:pt idx="4">
                  <c:v>7.2097577524983416</c:v>
                </c:pt>
                <c:pt idx="5">
                  <c:v>9.8088798295218353</c:v>
                </c:pt>
                <c:pt idx="6">
                  <c:v>5.4569975674782363</c:v>
                </c:pt>
                <c:pt idx="7">
                  <c:v>6.1206218418953755</c:v>
                </c:pt>
                <c:pt idx="8">
                  <c:v>0.25833120465058229</c:v>
                </c:pt>
                <c:pt idx="9">
                  <c:v>1.086046263365033</c:v>
                </c:pt>
                <c:pt idx="10">
                  <c:v>2.1272743246629369</c:v>
                </c:pt>
                <c:pt idx="11">
                  <c:v>3.2186809891706192</c:v>
                </c:pt>
                <c:pt idx="12">
                  <c:v>2.8623709045680212</c:v>
                </c:pt>
                <c:pt idx="13">
                  <c:v>3.038010264285659</c:v>
                </c:pt>
                <c:pt idx="14">
                  <c:v>0.9378401802301074</c:v>
                </c:pt>
                <c:pt idx="15">
                  <c:v>0</c:v>
                </c:pt>
                <c:pt idx="16">
                  <c:v>1.7731965953885911</c:v>
                </c:pt>
                <c:pt idx="17">
                  <c:v>0</c:v>
                </c:pt>
                <c:pt idx="18">
                  <c:v>0.53075237538839182</c:v>
                </c:pt>
                <c:pt idx="19">
                  <c:v>0.32426570866595517</c:v>
                </c:pt>
                <c:pt idx="20">
                  <c:v>0.36566936673981831</c:v>
                </c:pt>
                <c:pt idx="21">
                  <c:v>0.39652606968476439</c:v>
                </c:pt>
                <c:pt idx="22">
                  <c:v>0.9068373300708078</c:v>
                </c:pt>
                <c:pt idx="23">
                  <c:v>0.1927678607986196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B6-4CC0-AC1C-433E9F7CA5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8.149922177469108</c:v>
                </c:pt>
                <c:pt idx="1">
                  <c:v>15.919553440624821</c:v>
                </c:pt>
                <c:pt idx="2">
                  <c:v>21.518355884528539</c:v>
                </c:pt>
                <c:pt idx="3">
                  <c:v>5.3242639956115312</c:v>
                </c:pt>
                <c:pt idx="4">
                  <c:v>6.5324071170295293</c:v>
                </c:pt>
                <c:pt idx="5">
                  <c:v>2.0220519659128979</c:v>
                </c:pt>
                <c:pt idx="6">
                  <c:v>6.7366931853651026</c:v>
                </c:pt>
                <c:pt idx="7">
                  <c:v>0.9557018839178697</c:v>
                </c:pt>
                <c:pt idx="8">
                  <c:v>8.2667598250691654</c:v>
                </c:pt>
                <c:pt idx="9">
                  <c:v>5.2256206122862841</c:v>
                </c:pt>
                <c:pt idx="10">
                  <c:v>1.6267186091784371</c:v>
                </c:pt>
                <c:pt idx="11">
                  <c:v>0.49348731320648842</c:v>
                </c:pt>
                <c:pt idx="12">
                  <c:v>0</c:v>
                </c:pt>
                <c:pt idx="13">
                  <c:v>0</c:v>
                </c:pt>
                <c:pt idx="14">
                  <c:v>2.8881109810437557</c:v>
                </c:pt>
                <c:pt idx="15">
                  <c:v>3.6169639472780979</c:v>
                </c:pt>
                <c:pt idx="16">
                  <c:v>0.97434298426313537</c:v>
                </c:pt>
                <c:pt idx="17">
                  <c:v>2.7592889796504609</c:v>
                </c:pt>
                <c:pt idx="18">
                  <c:v>0.75644428724326296</c:v>
                </c:pt>
                <c:pt idx="19">
                  <c:v>0.5362818695534024</c:v>
                </c:pt>
                <c:pt idx="20">
                  <c:v>2.193182044803474</c:v>
                </c:pt>
                <c:pt idx="21">
                  <c:v>1.0730937170233812</c:v>
                </c:pt>
                <c:pt idx="22">
                  <c:v>0.55334613423152956</c:v>
                </c:pt>
                <c:pt idx="23">
                  <c:v>1.8774090447097169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B6-4CC0-AC1C-433E9F7CA5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21.471781867260802</c:v>
                </c:pt>
                <c:pt idx="1">
                  <c:v>10.626735941371109</c:v>
                </c:pt>
                <c:pt idx="2">
                  <c:v>7.4346160555086698</c:v>
                </c:pt>
                <c:pt idx="3">
                  <c:v>11.790489036216419</c:v>
                </c:pt>
                <c:pt idx="4">
                  <c:v>7.035563237083899</c:v>
                </c:pt>
                <c:pt idx="5">
                  <c:v>5.8932249780425794</c:v>
                </c:pt>
                <c:pt idx="6">
                  <c:v>6.1635620410792002</c:v>
                </c:pt>
                <c:pt idx="7">
                  <c:v>3.9738846543932711</c:v>
                </c:pt>
                <c:pt idx="8">
                  <c:v>4.4733837130783529</c:v>
                </c:pt>
                <c:pt idx="9">
                  <c:v>3.1121830555781411</c:v>
                </c:pt>
                <c:pt idx="10">
                  <c:v>4.4290454846697811</c:v>
                </c:pt>
                <c:pt idx="11">
                  <c:v>0.41395820720433696</c:v>
                </c:pt>
                <c:pt idx="12">
                  <c:v>1.145970932592618</c:v>
                </c:pt>
                <c:pt idx="13">
                  <c:v>0</c:v>
                </c:pt>
                <c:pt idx="14">
                  <c:v>1.391521040477691</c:v>
                </c:pt>
                <c:pt idx="15">
                  <c:v>2.1454161333931649</c:v>
                </c:pt>
                <c:pt idx="16">
                  <c:v>0.54945658002944076</c:v>
                </c:pt>
                <c:pt idx="17">
                  <c:v>1.811905040681782</c:v>
                </c:pt>
                <c:pt idx="18">
                  <c:v>1.9913020666456651</c:v>
                </c:pt>
                <c:pt idx="19">
                  <c:v>2.5093603597675349</c:v>
                </c:pt>
                <c:pt idx="20">
                  <c:v>0.3758939229056118</c:v>
                </c:pt>
                <c:pt idx="21">
                  <c:v>0.93966433914751901</c:v>
                </c:pt>
                <c:pt idx="22">
                  <c:v>0.3210813128723124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B6-4CC0-AC1C-433E9F7CA5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Quelles sont toutes les AUTRES marques d’aliments pour chiens et chats que vous connaissez, ne serait-ce que de nom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46.453248547934287</c:v>
                </c:pt>
                <c:pt idx="1">
                  <c:v>37.90064842293944</c:v>
                </c:pt>
                <c:pt idx="2">
                  <c:v>31.704901177370331</c:v>
                </c:pt>
                <c:pt idx="3">
                  <c:v>27.83933995992744</c:v>
                </c:pt>
                <c:pt idx="4">
                  <c:v>21.410362976529651</c:v>
                </c:pt>
                <c:pt idx="5">
                  <c:v>19.84621171261989</c:v>
                </c:pt>
                <c:pt idx="6">
                  <c:v>17.02238223460073</c:v>
                </c:pt>
                <c:pt idx="7">
                  <c:v>12.702815925354418</c:v>
                </c:pt>
                <c:pt idx="8">
                  <c:v>12.641958094453809</c:v>
                </c:pt>
                <c:pt idx="9">
                  <c:v>11.9579278850469</c:v>
                </c:pt>
                <c:pt idx="10">
                  <c:v>8.9013223062739595</c:v>
                </c:pt>
                <c:pt idx="11">
                  <c:v>7.3060417893977032</c:v>
                </c:pt>
                <c:pt idx="12">
                  <c:v>6.7681185012393712</c:v>
                </c:pt>
                <c:pt idx="13">
                  <c:v>6.5612560304613581</c:v>
                </c:pt>
                <c:pt idx="14">
                  <c:v>6.2287147669042326</c:v>
                </c:pt>
                <c:pt idx="15">
                  <c:v>3.855929344189978</c:v>
                </c:pt>
                <c:pt idx="16">
                  <c:v>3.5618536445766651</c:v>
                </c:pt>
                <c:pt idx="17">
                  <c:v>3.1235826062019498</c:v>
                </c:pt>
                <c:pt idx="18">
                  <c:v>2.939559692058741</c:v>
                </c:pt>
                <c:pt idx="19">
                  <c:v>2.789699172812611</c:v>
                </c:pt>
                <c:pt idx="20">
                  <c:v>2.6314141754395308</c:v>
                </c:pt>
                <c:pt idx="21">
                  <c:v>2.3756947459113888</c:v>
                </c:pt>
                <c:pt idx="22">
                  <c:v>1.139071452293132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3F-4E2B-B840-744F8F8FA3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56.93116223621314</c:v>
                </c:pt>
                <c:pt idx="1">
                  <c:v>34.039739888108386</c:v>
                </c:pt>
                <c:pt idx="2">
                  <c:v>44.08272030827181</c:v>
                </c:pt>
                <c:pt idx="3">
                  <c:v>30.521738904534811</c:v>
                </c:pt>
                <c:pt idx="4">
                  <c:v>30.53434964912206</c:v>
                </c:pt>
                <c:pt idx="5">
                  <c:v>19.777364883205749</c:v>
                </c:pt>
                <c:pt idx="6">
                  <c:v>18.154874385810249</c:v>
                </c:pt>
                <c:pt idx="7">
                  <c:v>3.3193187126164885</c:v>
                </c:pt>
                <c:pt idx="8">
                  <c:v>17.615246236621079</c:v>
                </c:pt>
                <c:pt idx="9">
                  <c:v>8.3964899493467602</c:v>
                </c:pt>
                <c:pt idx="10">
                  <c:v>14.344276211636139</c:v>
                </c:pt>
                <c:pt idx="11">
                  <c:v>5.6581118468538998</c:v>
                </c:pt>
                <c:pt idx="12">
                  <c:v>5.2390726844561719</c:v>
                </c:pt>
                <c:pt idx="13">
                  <c:v>2.1227773377842829</c:v>
                </c:pt>
                <c:pt idx="14">
                  <c:v>1.160630720071991</c:v>
                </c:pt>
                <c:pt idx="15">
                  <c:v>6.2836164261553282</c:v>
                </c:pt>
                <c:pt idx="16">
                  <c:v>3.4248736536200037</c:v>
                </c:pt>
                <c:pt idx="17">
                  <c:v>4.0196029345714184</c:v>
                </c:pt>
                <c:pt idx="18">
                  <c:v>2.2715980562805709</c:v>
                </c:pt>
                <c:pt idx="19">
                  <c:v>1.518189394670042</c:v>
                </c:pt>
                <c:pt idx="20">
                  <c:v>1.014511743718542</c:v>
                </c:pt>
                <c:pt idx="21">
                  <c:v>0.45257000728119756</c:v>
                </c:pt>
                <c:pt idx="22">
                  <c:v>0.32426570866595517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3F-4E2B-B840-744F8F8FA3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27.29904990815697</c:v>
                </c:pt>
                <c:pt idx="1">
                  <c:v>49.301846103870773</c:v>
                </c:pt>
                <c:pt idx="2">
                  <c:v>7.9224193026518677</c:v>
                </c:pt>
                <c:pt idx="3">
                  <c:v>20.721480557752852</c:v>
                </c:pt>
                <c:pt idx="4">
                  <c:v>4.2989419592688076</c:v>
                </c:pt>
                <c:pt idx="5">
                  <c:v>16.91044656881861</c:v>
                </c:pt>
                <c:pt idx="6">
                  <c:v>14.86618346181945</c:v>
                </c:pt>
                <c:pt idx="7">
                  <c:v>26.603930312050561</c:v>
                </c:pt>
                <c:pt idx="8">
                  <c:v>2.7374000925705162</c:v>
                </c:pt>
                <c:pt idx="9">
                  <c:v>15.336457967138761</c:v>
                </c:pt>
                <c:pt idx="10">
                  <c:v>0.43900451669603097</c:v>
                </c:pt>
                <c:pt idx="11">
                  <c:v>7.3680239999382922</c:v>
                </c:pt>
                <c:pt idx="12">
                  <c:v>6.5569231651056343</c:v>
                </c:pt>
                <c:pt idx="13">
                  <c:v>11.603187149338471</c:v>
                </c:pt>
                <c:pt idx="14">
                  <c:v>12.576817567954309</c:v>
                </c:pt>
                <c:pt idx="15">
                  <c:v>0.91577320219914327</c:v>
                </c:pt>
                <c:pt idx="16">
                  <c:v>3.9364318669516134</c:v>
                </c:pt>
                <c:pt idx="17">
                  <c:v>1.7334394316674742</c:v>
                </c:pt>
                <c:pt idx="18">
                  <c:v>2.409277598599779</c:v>
                </c:pt>
                <c:pt idx="19">
                  <c:v>5.8382335825617337</c:v>
                </c:pt>
                <c:pt idx="20">
                  <c:v>5.9349654003497934</c:v>
                </c:pt>
                <c:pt idx="21">
                  <c:v>3.9068417915484681</c:v>
                </c:pt>
                <c:pt idx="22">
                  <c:v>1.423132780865134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3F-4E2B-B840-744F8F8FA3C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44.027800405207778</c:v>
                </c:pt>
                <c:pt idx="1">
                  <c:v>34.536784106083914</c:v>
                </c:pt>
                <c:pt idx="2">
                  <c:v>29.972031303526229</c:v>
                </c:pt>
                <c:pt idx="3">
                  <c:v>29.389033725861502</c:v>
                </c:pt>
                <c:pt idx="4">
                  <c:v>19.722074789791318</c:v>
                </c:pt>
                <c:pt idx="5">
                  <c:v>22.86339277795366</c:v>
                </c:pt>
                <c:pt idx="6">
                  <c:v>16.844477164360068</c:v>
                </c:pt>
                <c:pt idx="7">
                  <c:v>18.063218015076739</c:v>
                </c:pt>
                <c:pt idx="8">
                  <c:v>12.287812089325719</c:v>
                </c:pt>
                <c:pt idx="9">
                  <c:v>15.85254557553912</c:v>
                </c:pt>
                <c:pt idx="10">
                  <c:v>6.183015438886506</c:v>
                </c:pt>
                <c:pt idx="11">
                  <c:v>10.579845863452721</c:v>
                </c:pt>
                <c:pt idx="12">
                  <c:v>10.069152507094611</c:v>
                </c:pt>
                <c:pt idx="13">
                  <c:v>10.599955874136489</c:v>
                </c:pt>
                <c:pt idx="14">
                  <c:v>10.260999189587471</c:v>
                </c:pt>
                <c:pt idx="15">
                  <c:v>1.8257121883765801</c:v>
                </c:pt>
                <c:pt idx="16">
                  <c:v>3.4718394460415603</c:v>
                </c:pt>
                <c:pt idx="17">
                  <c:v>2.6732264616693118</c:v>
                </c:pt>
                <c:pt idx="18">
                  <c:v>4.8109957082742092</c:v>
                </c:pt>
                <c:pt idx="19">
                  <c:v>2.3741661851899298</c:v>
                </c:pt>
                <c:pt idx="20">
                  <c:v>2.6647907936975588</c:v>
                </c:pt>
                <c:pt idx="21">
                  <c:v>4.7661595757199358</c:v>
                </c:pt>
                <c:pt idx="22">
                  <c:v>2.5093603597675349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3F-4E2B-B840-744F8F8FA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Dans quelle mesure connaissez-vous les marques suivantes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Très bien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2.6768203566327502</c:v>
                </c:pt>
                <c:pt idx="1">
                  <c:v>3.5107416831371507</c:v>
                </c:pt>
                <c:pt idx="2">
                  <c:v>6.3959316482760782</c:v>
                </c:pt>
                <c:pt idx="3">
                  <c:v>7.9055659872349704</c:v>
                </c:pt>
                <c:pt idx="4">
                  <c:v>11.680599898672989</c:v>
                </c:pt>
                <c:pt idx="5">
                  <c:v>13.082782981946787</c:v>
                </c:pt>
                <c:pt idx="6">
                  <c:v>15.119198369649933</c:v>
                </c:pt>
                <c:pt idx="7">
                  <c:v>21.892058057344439</c:v>
                </c:pt>
                <c:pt idx="8">
                  <c:v>23.332934143018637</c:v>
                </c:pt>
                <c:pt idx="9">
                  <c:v>28.863160923354787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B9-471D-ABDE-0F14E7F875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Assez bien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4.2559462864605813</c:v>
                </c:pt>
                <c:pt idx="1">
                  <c:v>3.5074234081983846</c:v>
                </c:pt>
                <c:pt idx="2">
                  <c:v>6.9233213094683252</c:v>
                </c:pt>
                <c:pt idx="3">
                  <c:v>15.763428710759401</c:v>
                </c:pt>
                <c:pt idx="4">
                  <c:v>19.793769535316226</c:v>
                </c:pt>
                <c:pt idx="5">
                  <c:v>29.295280953653002</c:v>
                </c:pt>
                <c:pt idx="6">
                  <c:v>17.57264481484254</c:v>
                </c:pt>
                <c:pt idx="7">
                  <c:v>32.07402489755205</c:v>
                </c:pt>
                <c:pt idx="8">
                  <c:v>37.328737268205984</c:v>
                </c:pt>
                <c:pt idx="9">
                  <c:v>34.789125092490487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B9-471D-ABDE-0F14E7F875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Juste de nom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13.813357085888525</c:v>
                </c:pt>
                <c:pt idx="1">
                  <c:v>11.041973431827273</c:v>
                </c:pt>
                <c:pt idx="2">
                  <c:v>17.281260988043869</c:v>
                </c:pt>
                <c:pt idx="3">
                  <c:v>41.78651392206752</c:v>
                </c:pt>
                <c:pt idx="4">
                  <c:v>36.036875972642321</c:v>
                </c:pt>
                <c:pt idx="5">
                  <c:v>36.731540447635794</c:v>
                </c:pt>
                <c:pt idx="6">
                  <c:v>36.014765528410585</c:v>
                </c:pt>
                <c:pt idx="7">
                  <c:v>38.529126166193024</c:v>
                </c:pt>
                <c:pt idx="8">
                  <c:v>34.080494828170451</c:v>
                </c:pt>
                <c:pt idx="9">
                  <c:v>32.537829936367594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B9-471D-ABDE-0F14E7F875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Pas du tout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79.253876271018129</c:v>
                </c:pt>
                <c:pt idx="1">
                  <c:v>81.939861476837194</c:v>
                </c:pt>
                <c:pt idx="2">
                  <c:v>69.399486054211721</c:v>
                </c:pt>
                <c:pt idx="3">
                  <c:v>34.544491379938108</c:v>
                </c:pt>
                <c:pt idx="4">
                  <c:v>32.488754593368462</c:v>
                </c:pt>
                <c:pt idx="5">
                  <c:v>20.890395616764422</c:v>
                </c:pt>
                <c:pt idx="6">
                  <c:v>31.293391287096938</c:v>
                </c:pt>
                <c:pt idx="7">
                  <c:v>7.5047908789104945</c:v>
                </c:pt>
                <c:pt idx="8">
                  <c:v>5.2578337606049308</c:v>
                </c:pt>
                <c:pt idx="9">
                  <c:v>3.809884047787139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6B9-471D-ABDE-0F14E7F875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 marque d’aliments votre/vos animal(ux) consomme(nt)-t-il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18.795372284201417</c:v>
                </c:pt>
                <c:pt idx="1">
                  <c:v>16.671504808154008</c:v>
                </c:pt>
                <c:pt idx="2">
                  <c:v>15.929716275903488</c:v>
                </c:pt>
                <c:pt idx="3">
                  <c:v>14.25076662195686</c:v>
                </c:pt>
                <c:pt idx="4">
                  <c:v>9.0001348578571552</c:v>
                </c:pt>
                <c:pt idx="5">
                  <c:v>5.8403223095502135</c:v>
                </c:pt>
                <c:pt idx="6">
                  <c:v>3.7545250821355505</c:v>
                </c:pt>
                <c:pt idx="7">
                  <c:v>1.8579570885800687</c:v>
                </c:pt>
                <c:pt idx="8">
                  <c:v>0.82657808731943438</c:v>
                </c:pt>
                <c:pt idx="9">
                  <c:v>0.53035364353926551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00-4683-AB8D-4C66273487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19.096880800880211</c:v>
                </c:pt>
                <c:pt idx="1">
                  <c:v>17.914070509402979</c:v>
                </c:pt>
                <c:pt idx="2">
                  <c:v>12.080597488501407</c:v>
                </c:pt>
                <c:pt idx="3">
                  <c:v>13.547951590684562</c:v>
                </c:pt>
                <c:pt idx="4">
                  <c:v>7.0318326747760924</c:v>
                </c:pt>
                <c:pt idx="5">
                  <c:v>4.1781495449123423</c:v>
                </c:pt>
                <c:pt idx="6">
                  <c:v>1.4863795126341814</c:v>
                </c:pt>
                <c:pt idx="7">
                  <c:v>2.1051603782904595</c:v>
                </c:pt>
                <c:pt idx="8">
                  <c:v>0.26788892411144433</c:v>
                </c:pt>
                <c:pt idx="9">
                  <c:v>0.22520177993259116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00-4683-AB8D-4C66273487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13.627732858291317</c:v>
                </c:pt>
                <c:pt idx="1">
                  <c:v>9.4317581669815507</c:v>
                </c:pt>
                <c:pt idx="2">
                  <c:v>22.156428286167145</c:v>
                </c:pt>
                <c:pt idx="3">
                  <c:v>17.317910549815771</c:v>
                </c:pt>
                <c:pt idx="4">
                  <c:v>5.4453710407477525</c:v>
                </c:pt>
                <c:pt idx="5">
                  <c:v>2.7565730846057002</c:v>
                </c:pt>
                <c:pt idx="6">
                  <c:v>2.9374401823539169</c:v>
                </c:pt>
                <c:pt idx="7">
                  <c:v>0.78877383152384917</c:v>
                </c:pt>
                <c:pt idx="8">
                  <c:v>0.60924923917475771</c:v>
                </c:pt>
                <c:pt idx="9">
                  <c:v>1.7012689748230159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00-4683-AB8D-4C66273487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23.251004955185625</c:v>
                </c:pt>
                <c:pt idx="1">
                  <c:v>21.254165245103348</c:v>
                </c:pt>
                <c:pt idx="2">
                  <c:v>17.614437877296929</c:v>
                </c:pt>
                <c:pt idx="3">
                  <c:v>12.666244971053178</c:v>
                </c:pt>
                <c:pt idx="4">
                  <c:v>16.467629878811959</c:v>
                </c:pt>
                <c:pt idx="5">
                  <c:v>12.226642633101822</c:v>
                </c:pt>
                <c:pt idx="6">
                  <c:v>9.1450585766791441</c:v>
                </c:pt>
                <c:pt idx="7">
                  <c:v>2.4058430196056322</c:v>
                </c:pt>
                <c:pt idx="8">
                  <c:v>2.1701210761157181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00-4683-AB8D-4C6627348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Si vous deviez acheter de la nourriture pour votre animal demain, quelles marques envisageriez-vous sérieusement d'acheter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32.526659207971015</c:v>
                </c:pt>
                <c:pt idx="1">
                  <c:v>31.474029288743978</c:v>
                </c:pt>
                <c:pt idx="2">
                  <c:v>27.504166940701445</c:v>
                </c:pt>
                <c:pt idx="3">
                  <c:v>23.483166220300973</c:v>
                </c:pt>
                <c:pt idx="4">
                  <c:v>16.157631754788518</c:v>
                </c:pt>
                <c:pt idx="5">
                  <c:v>15.81480974224009</c:v>
                </c:pt>
                <c:pt idx="6">
                  <c:v>15.430091254874196</c:v>
                </c:pt>
                <c:pt idx="7">
                  <c:v>10.646239465364957</c:v>
                </c:pt>
                <c:pt idx="8">
                  <c:v>6.7267229797181427</c:v>
                </c:pt>
                <c:pt idx="9">
                  <c:v>4.0422268531206731</c:v>
                </c:pt>
                <c:pt idx="10">
                  <c:v>2.8593246162109631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9F-4A65-B853-446B9F055B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35.633807062198755</c:v>
                </c:pt>
                <c:pt idx="1">
                  <c:v>32.678211642633549</c:v>
                </c:pt>
                <c:pt idx="2">
                  <c:v>22.296540847175287</c:v>
                </c:pt>
                <c:pt idx="3">
                  <c:v>23.803029038452586</c:v>
                </c:pt>
                <c:pt idx="4">
                  <c:v>14.81529756476529</c:v>
                </c:pt>
                <c:pt idx="5">
                  <c:v>15.303181534567722</c:v>
                </c:pt>
                <c:pt idx="6">
                  <c:v>16.331687182677275</c:v>
                </c:pt>
                <c:pt idx="7">
                  <c:v>9.9550102342122031</c:v>
                </c:pt>
                <c:pt idx="8">
                  <c:v>7.2621174452711612</c:v>
                </c:pt>
                <c:pt idx="9">
                  <c:v>2.5681729426780135</c:v>
                </c:pt>
                <c:pt idx="10">
                  <c:v>1.6402845763317839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9F-4A65-B853-446B9F055B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21.928830269260345</c:v>
                </c:pt>
                <c:pt idx="1">
                  <c:v>25.616249029298256</c:v>
                </c:pt>
                <c:pt idx="2">
                  <c:v>30.398763485959769</c:v>
                </c:pt>
                <c:pt idx="3">
                  <c:v>13.208160451804298</c:v>
                </c:pt>
                <c:pt idx="4">
                  <c:v>14.309112579521315</c:v>
                </c:pt>
                <c:pt idx="5">
                  <c:v>13.286413998012323</c:v>
                </c:pt>
                <c:pt idx="6">
                  <c:v>17.570910519768265</c:v>
                </c:pt>
                <c:pt idx="7">
                  <c:v>13.953730837902834</c:v>
                </c:pt>
                <c:pt idx="8">
                  <c:v>2.9682988810610471</c:v>
                </c:pt>
                <c:pt idx="9">
                  <c:v>3.8637282959421149</c:v>
                </c:pt>
                <c:pt idx="10">
                  <c:v>3.8421810220371806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9F-4A65-B853-446B9F055B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36.628222151841065</c:v>
                </c:pt>
                <c:pt idx="1">
                  <c:v>34.779644573404866</c:v>
                </c:pt>
                <c:pt idx="2">
                  <c:v>35.204214252452033</c:v>
                </c:pt>
                <c:pt idx="3">
                  <c:v>32.908305820654583</c:v>
                </c:pt>
                <c:pt idx="4">
                  <c:v>20.685892329310438</c:v>
                </c:pt>
                <c:pt idx="5">
                  <c:v>19.328617063718408</c:v>
                </c:pt>
                <c:pt idx="6">
                  <c:v>11.507122806358952</c:v>
                </c:pt>
                <c:pt idx="7">
                  <c:v>8.8026664275831035</c:v>
                </c:pt>
                <c:pt idx="8">
                  <c:v>9.3276656743012598</c:v>
                </c:pt>
                <c:pt idx="9">
                  <c:v>7.199933497087482</c:v>
                </c:pt>
                <c:pt idx="10">
                  <c:v>4.3625616578956423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49F-4A65-B853-446B9F055B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Pour quelles raisons n'envisageriez-vous pas d'acheter la marque Hill’s ? (3 réponses maximum)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9279999999999999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Oui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Je pense que c'est une marque réservée uniquement aux animaux malades</c:v>
                </c:pt>
                <c:pt idx="1">
                  <c:v>Je n’ai pas vu assez d'avis positif en ligne</c:v>
                </c:pt>
                <c:pt idx="2">
                  <c:v>Je ne suis pas convaincu par l'efficacité ou les bénéfices santé</c:v>
                </c:pt>
                <c:pt idx="3">
                  <c:v>Autre</c:v>
                </c:pt>
                <c:pt idx="4">
                  <c:v>Je ne suis pas convaincu par la qualité de la composition (ingrédients)</c:v>
                </c:pt>
                <c:pt idx="5">
                  <c:v>Ce n'est pas une marque recommandée par mon vétérinaire</c:v>
                </c:pt>
                <c:pt idx="6">
                  <c:v>Mon animal a déjà testé cette marque et n’a pas aimé (ou eu une mauvaise expérience)</c:v>
                </c:pt>
                <c:pt idx="7">
                  <c:v>C'est une marque difficile à trouver (pas disponible dans mon supermarché ou lieu d’achat habituel)</c:v>
                </c:pt>
                <c:pt idx="8">
                  <c:v>Je ne connais pas assez la marque ou ses produits</c:v>
                </c:pt>
                <c:pt idx="9">
                  <c:v>Je trouve que le prix est trop élevé par rapport à mon budget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2.3557020713188193</c:v>
                </c:pt>
                <c:pt idx="1">
                  <c:v>2.6243781585195558</c:v>
                </c:pt>
                <c:pt idx="2">
                  <c:v>6.0778520075700664</c:v>
                </c:pt>
                <c:pt idx="3">
                  <c:v>6.0913140492247866</c:v>
                </c:pt>
                <c:pt idx="4">
                  <c:v>8.5972138867759682</c:v>
                </c:pt>
                <c:pt idx="5">
                  <c:v>8.9635351639720326</c:v>
                </c:pt>
                <c:pt idx="6">
                  <c:v>13.489935274774091</c:v>
                </c:pt>
                <c:pt idx="7">
                  <c:v>16.617666011878391</c:v>
                </c:pt>
                <c:pt idx="8">
                  <c:v>35.722530878718203</c:v>
                </c:pt>
                <c:pt idx="9">
                  <c:v>39.893441192250791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B0-42E1-A953-AC6D12CD8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Ensemble 18-70 ans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</c:spPr>
            <c:extLst>
              <c:ext xmlns:c16="http://schemas.microsoft.com/office/drawing/2014/chart" uri="{C3380CC4-5D6E-409C-BE32-E72D297353CC}">
                <c16:uniqueId val="{00000001-ABD4-4F31-874D-8DDCA8184CA4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D4-4F31-874D-8DDCA8184CA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26.813262093023084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D4-4F31-874D-8DDCA8184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8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Possède chat uniquement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</c:spPr>
            <c:extLst>
              <c:ext xmlns:c16="http://schemas.microsoft.com/office/drawing/2014/chart" uri="{C3380CC4-5D6E-409C-BE32-E72D297353CC}">
                <c16:uniqueId val="{00000001-F47D-4B4C-A351-0FB17B92F475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7D-4B4C-A351-0FB17B92F4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25.893592871417059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7D-4B4C-A351-0FB17B92F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8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Possède chien uniquement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</c:spPr>
            <c:extLst>
              <c:ext xmlns:c16="http://schemas.microsoft.com/office/drawing/2014/chart" uri="{C3380CC4-5D6E-409C-BE32-E72D297353CC}">
                <c16:uniqueId val="{00000001-7DF1-4DAC-A987-394477F14A67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DF1-4DAC-A987-394477F14A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14.457796290765229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F1-4DAC-A987-394477F14A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8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Possède chien et chat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</c:spPr>
            <c:extLst>
              <c:ext xmlns:c16="http://schemas.microsoft.com/office/drawing/2014/chart" uri="{C3380CC4-5D6E-409C-BE32-E72D297353CC}">
                <c16:uniqueId val="{00000001-AFA3-4786-9088-FA5DD5F5548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A3-4786-9088-FA5DD5F554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38.638387553479497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A3-4786-9088-FA5DD5F55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8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 opinion avez-vous de la marque Hill’s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25.893592871417052</c:v>
                </c:pt>
                <c:pt idx="2">
                  <c:v>26.813262093023084</c:v>
                </c:pt>
                <c:pt idx="3">
                  <c:v>38.638387553479511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04-4644-8A51-EBCE7290B4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 assez bonne opinion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77.056146289695832</c:v>
                </c:pt>
                <c:pt idx="1">
                  <c:v>69.580040807229054</c:v>
                </c:pt>
                <c:pt idx="2">
                  <c:v>68.129909841905089</c:v>
                </c:pt>
                <c:pt idx="3">
                  <c:v>58.239041769827729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04-4644-8A51-EBCE7290B4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 assez mauvaise opinion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6.1829320234130662</c:v>
                </c:pt>
                <c:pt idx="1">
                  <c:v>3.9995817959067161</c:v>
                </c:pt>
                <c:pt idx="2">
                  <c:v>3.9444482691538383</c:v>
                </c:pt>
                <c:pt idx="3">
                  <c:v>1.9932865267080286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04-4644-8A51-EBCE7290B4D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Une très mauvaise opinion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2.3031253961258691</c:v>
                </c:pt>
                <c:pt idx="1">
                  <c:v>0.52678452544717924</c:v>
                </c:pt>
                <c:pt idx="2">
                  <c:v>1.1123797959179897</c:v>
                </c:pt>
                <c:pt idx="3">
                  <c:v>1.1292841499847304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04-4644-8A51-EBCE7290B4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110E-4D96-4970-BC93-128DB3781455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3E1C-85D9-4086-B36A-8235DDAA8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1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title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68D71C-808E-E2D0-7576-3F1F23F10E69}"/>
              </a:ext>
            </a:extLst>
          </p:cNvPr>
          <p:cNvSpPr/>
          <p:nvPr/>
        </p:nvSpPr>
        <p:spPr>
          <a:xfrm>
            <a:off x="33866" y="767216"/>
            <a:ext cx="5198534" cy="5198534"/>
          </a:xfrm>
          <a:prstGeom prst="ellipse">
            <a:avLst/>
          </a:prstGeom>
          <a:gradFill flip="none" rotWithShape="1">
            <a:gsLst>
              <a:gs pos="68000">
                <a:schemeClr val="accent1">
                  <a:alpha val="0"/>
                </a:schemeClr>
              </a:gs>
              <a:gs pos="9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D5DA8-3B9F-1982-027D-A88DBE9D6715}"/>
              </a:ext>
            </a:extLst>
          </p:cNvPr>
          <p:cNvSpPr/>
          <p:nvPr/>
        </p:nvSpPr>
        <p:spPr>
          <a:xfrm flipV="1">
            <a:off x="0" y="3063535"/>
            <a:ext cx="3789114" cy="3794465"/>
          </a:xfrm>
          <a:prstGeom prst="rect">
            <a:avLst/>
          </a:prstGeom>
          <a:gradFill flip="none" rotWithShape="1">
            <a:gsLst>
              <a:gs pos="67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4847A4-4335-046C-84E2-AE2A99B6C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8" y="1882775"/>
            <a:ext cx="9555162" cy="4435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ver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359516-6C5A-2D25-3C9F-86911BB902F2}"/>
              </a:ext>
            </a:extLst>
          </p:cNvPr>
          <p:cNvSpPr/>
          <p:nvPr/>
        </p:nvSpPr>
        <p:spPr>
          <a:xfrm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D28-6B0B-66A5-056C-8241B528F204}"/>
              </a:ext>
            </a:extLst>
          </p:cNvPr>
          <p:cNvSpPr/>
          <p:nvPr/>
        </p:nvSpPr>
        <p:spPr>
          <a:xfrm rot="10800000" flipV="1">
            <a:off x="9912350" y="0"/>
            <a:ext cx="2275718" cy="2278932"/>
          </a:xfrm>
          <a:prstGeom prst="rect">
            <a:avLst/>
          </a:prstGeom>
          <a:gradFill flip="none" rotWithShape="1">
            <a:gsLst>
              <a:gs pos="67000">
                <a:schemeClr val="accent3">
                  <a:alpha val="0"/>
                </a:schemeClr>
              </a:gs>
              <a:gs pos="13000">
                <a:schemeClr val="accent3">
                  <a:alpha val="6645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4E6D8AB0-65E2-1911-2D04-131867B6D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57188" y="1769675"/>
            <a:ext cx="11452374" cy="421957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aph_h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6E7A1-ECE2-8242-FAB7-000BD11FB6DF}"/>
              </a:ext>
            </a:extLst>
          </p:cNvPr>
          <p:cNvSpPr/>
          <p:nvPr/>
        </p:nvSpPr>
        <p:spPr>
          <a:xfrm rot="5400000" flipH="1" flipV="1">
            <a:off x="2492" y="3325098"/>
            <a:ext cx="3530409" cy="3535394"/>
          </a:xfrm>
          <a:prstGeom prst="rect">
            <a:avLst/>
          </a:prstGeom>
          <a:gradFill flip="none" rotWithShape="1">
            <a:gsLst>
              <a:gs pos="67000">
                <a:schemeClr val="accent5">
                  <a:alpha val="0"/>
                </a:schemeClr>
              </a:gs>
              <a:gs pos="13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/>
        </p:nvSpPr>
        <p:spPr>
          <a:xfrm rot="16200000" flipH="1" flipV="1">
            <a:off x="7895747" y="-3030"/>
            <a:ext cx="4293222" cy="4299284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55700" y="1768475"/>
            <a:ext cx="9385300" cy="4292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7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799200D8-54AD-AE19-8AC5-FBC227CE8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4E4A48-B3C9-B942-90EF-ECA811FD16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Espace réservé du graphique 8">
            <a:extLst>
              <a:ext uri="{FF2B5EF4-FFF2-40B4-BE49-F238E27FC236}">
                <a16:creationId xmlns:a16="http://schemas.microsoft.com/office/drawing/2014/main" id="{E1C0FF76-A11D-643F-0CE4-399C64970A2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275108" y="1968794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4A6349C4-5CD4-0971-9174-E93C86801D5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62150" y="1968793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93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3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6F6576-7A2E-BF11-F427-1A224CC0F784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8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6A76A5A6-7C90-587B-5DCC-744E585C79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11490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BE296104-89B9-E3FE-4CF5-1C7AF6CF264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42694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3A018F94-1511-FABB-B2F8-AFF665A3C94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99285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9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3F6E033E-77DF-9B10-389F-DA12DD20B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26810A-51BE-4581-3D89-E177CF8B534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graphique 8">
            <a:extLst>
              <a:ext uri="{FF2B5EF4-FFF2-40B4-BE49-F238E27FC236}">
                <a16:creationId xmlns:a16="http://schemas.microsoft.com/office/drawing/2014/main" id="{4F8DDB78-8E7E-57B2-3471-0FE4853291D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75060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1730DDDB-CBCA-F208-DCB8-BD404E57FAD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4750" y="1993538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1F4A12B4-EDD4-2A10-175E-C4D46BFB810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264905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FD0E334E-4EA2-7B16-BB76-9367A649259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141958" y="1993537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10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788F2B-3332-FC72-70D7-6F005F1F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7E46B7-7836-E1F9-9ECC-B6163C7A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CF1B-4EDE-405C-B40E-340275693B51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50881-98AA-E45E-0DF7-6AC06A133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A0786-DD99-BA7A-214A-FF793CAC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E901-318D-40B6-ABD2-DA774725AC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7" r:id="rId3"/>
    <p:sldLayoutId id="2147483671" r:id="rId4"/>
    <p:sldLayoutId id="2147483665" r:id="rId5"/>
    <p:sldLayoutId id="21474836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275060" y="1993539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Placeholder 3"/>
          <p:cNvGraphicFramePr>
            <a:graphicFrameLocks noGrp="1"/>
          </p:cNvGraphicFramePr>
          <p:nvPr>
            <p:ph type="chart" sz="quarter" idx="13"/>
          </p:nvPr>
        </p:nvGraphicFramePr>
        <p:xfrm>
          <a:off x="6254750" y="1993538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Placeholder 4"/>
          <p:cNvGraphicFramePr>
            <a:graphicFrameLocks noGrp="1"/>
          </p:cNvGraphicFramePr>
          <p:nvPr>
            <p:ph type="chart" sz="quarter" idx="14"/>
          </p:nvPr>
        </p:nvGraphicFramePr>
        <p:xfrm>
          <a:off x="3264905" y="1993539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Placeholder 5"/>
          <p:cNvGraphicFramePr>
            <a:graphicFrameLocks noGrp="1"/>
          </p:cNvGraphicFramePr>
          <p:nvPr>
            <p:ph type="chart" sz="quarter" idx="15"/>
          </p:nvPr>
        </p:nvGraphicFramePr>
        <p:xfrm>
          <a:off x="9141958" y="1993537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50"/>
      </a:dk1>
      <a:lt1>
        <a:sysClr val="window" lastClr="FFFFFF"/>
      </a:lt1>
      <a:dk2>
        <a:srgbClr val="0E2841"/>
      </a:dk2>
      <a:lt2>
        <a:srgbClr val="E8F1F4"/>
      </a:lt2>
      <a:accent1>
        <a:srgbClr val="B0F467"/>
      </a:accent1>
      <a:accent2>
        <a:srgbClr val="93DFE3"/>
      </a:accent2>
      <a:accent3>
        <a:srgbClr val="5465FF"/>
      </a:accent3>
      <a:accent4>
        <a:srgbClr val="788BFF"/>
      </a:accent4>
      <a:accent5>
        <a:srgbClr val="00DBEE"/>
      </a:accent5>
      <a:accent6>
        <a:srgbClr val="FCFE67"/>
      </a:accent6>
      <a:hlink>
        <a:srgbClr val="00DBEE"/>
      </a:hlink>
      <a:folHlink>
        <a:srgbClr val="00DB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Grand écran</PresentationFormat>
  <Paragraphs>15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Le</dc:creator>
  <cp:lastModifiedBy>Louise Le</cp:lastModifiedBy>
  <cp:revision>11</cp:revision>
  <dcterms:created xsi:type="dcterms:W3CDTF">2026-04-22T09:22:27Z</dcterms:created>
  <dcterms:modified xsi:type="dcterms:W3CDTF">2026-04-22T16:01:12Z</dcterms:modified>
</cp:coreProperties>
</file>