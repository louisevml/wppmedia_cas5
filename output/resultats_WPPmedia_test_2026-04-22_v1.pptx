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41E93-E1FE-4BA9-8217-D55B7C2A1F8F}" v="3" dt="2026-04-22T09:54:10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Quelles sont toutes les marques d’aliments pour ANIMAL que vous connaissez ne serait-ce que de nom 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20.55528814230827</c:v>
                </c:pt>
                <c:pt idx="1">
                  <c:v>12.632980238260268</c:v>
                </c:pt>
                <c:pt idx="2">
                  <c:v>12.014435459945021</c:v>
                </c:pt>
                <c:pt idx="3">
                  <c:v>7.0620599842790215</c:v>
                </c:pt>
                <c:pt idx="4">
                  <c:v>7.000407988086191</c:v>
                </c:pt>
                <c:pt idx="5">
                  <c:v>6.924364924211766</c:v>
                </c:pt>
                <c:pt idx="6">
                  <c:v>5.946792394424987</c:v>
                </c:pt>
                <c:pt idx="7">
                  <c:v>4.319866646272323</c:v>
                </c:pt>
                <c:pt idx="8">
                  <c:v>3.2718817078553704</c:v>
                </c:pt>
                <c:pt idx="9">
                  <c:v>2.6056347541347358</c:v>
                </c:pt>
                <c:pt idx="10">
                  <c:v>2.5796201022935152</c:v>
                </c:pt>
                <c:pt idx="11">
                  <c:v>1.850925151144367</c:v>
                </c:pt>
                <c:pt idx="12">
                  <c:v>1.7328534606978339</c:v>
                </c:pt>
                <c:pt idx="13">
                  <c:v>1.5353975999005591</c:v>
                </c:pt>
                <c:pt idx="14">
                  <c:v>1.528656770897078</c:v>
                </c:pt>
                <c:pt idx="15">
                  <c:v>1.421424679317732</c:v>
                </c:pt>
                <c:pt idx="16">
                  <c:v>1.271958549304367</c:v>
                </c:pt>
                <c:pt idx="17">
                  <c:v>1.128132739859197</c:v>
                </c:pt>
                <c:pt idx="18">
                  <c:v>0.9508046085082359</c:v>
                </c:pt>
                <c:pt idx="19">
                  <c:v>0.92193544019637</c:v>
                </c:pt>
                <c:pt idx="20">
                  <c:v>0.8156701411951265</c:v>
                </c:pt>
                <c:pt idx="21">
                  <c:v>0.6978333078211924</c:v>
                </c:pt>
                <c:pt idx="22">
                  <c:v>0.6739875092668939</c:v>
                </c:pt>
                <c:pt idx="23">
                  <c:v>0.5570876998196529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26.11214879691473</c:v>
                </c:pt>
                <c:pt idx="1">
                  <c:v>12.03227640191376</c:v>
                </c:pt>
                <c:pt idx="2">
                  <c:v>9.673585074167324</c:v>
                </c:pt>
                <c:pt idx="3">
                  <c:v>5.567163297940616</c:v>
                </c:pt>
                <c:pt idx="4">
                  <c:v>7.209757752498342</c:v>
                </c:pt>
                <c:pt idx="5">
                  <c:v>9.808879829521835</c:v>
                </c:pt>
                <c:pt idx="6">
                  <c:v>5.456997567478236</c:v>
                </c:pt>
                <c:pt idx="7">
                  <c:v>6.1206218418953755</c:v>
                </c:pt>
                <c:pt idx="8">
                  <c:v>0.2583312046505823</c:v>
                </c:pt>
                <c:pt idx="9">
                  <c:v>1.086046263365033</c:v>
                </c:pt>
                <c:pt idx="10">
                  <c:v>2.127274324662937</c:v>
                </c:pt>
                <c:pt idx="11">
                  <c:v>3.218680989170619</c:v>
                </c:pt>
                <c:pt idx="12">
                  <c:v>2.8623709045680212</c:v>
                </c:pt>
                <c:pt idx="13">
                  <c:v>3.038010264285659</c:v>
                </c:pt>
                <c:pt idx="14">
                  <c:v>0.9378401802301074</c:v>
                </c:pt>
                <c:pt idx="15">
                  <c:v>0.0</c:v>
                </c:pt>
                <c:pt idx="16">
                  <c:v>1.773196595388591</c:v>
                </c:pt>
                <c:pt idx="17">
                  <c:v>0.0</c:v>
                </c:pt>
                <c:pt idx="18">
                  <c:v>0.5307523753883918</c:v>
                </c:pt>
                <c:pt idx="19">
                  <c:v>0.32426570866595517</c:v>
                </c:pt>
                <c:pt idx="20">
                  <c:v>0.3656693667398183</c:v>
                </c:pt>
                <c:pt idx="21">
                  <c:v>0.3965260696847644</c:v>
                </c:pt>
                <c:pt idx="22">
                  <c:v>0.9068373300708078</c:v>
                </c:pt>
                <c:pt idx="23">
                  <c:v>0.1927678607986196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8.149922177469108</c:v>
                </c:pt>
                <c:pt idx="1">
                  <c:v>15.91955344062482</c:v>
                </c:pt>
                <c:pt idx="2">
                  <c:v>21.51835588452854</c:v>
                </c:pt>
                <c:pt idx="3">
                  <c:v>5.324263995611531</c:v>
                </c:pt>
                <c:pt idx="4">
                  <c:v>6.532407117029529</c:v>
                </c:pt>
                <c:pt idx="5">
                  <c:v>2.022051965912898</c:v>
                </c:pt>
                <c:pt idx="6">
                  <c:v>6.736693185365103</c:v>
                </c:pt>
                <c:pt idx="7">
                  <c:v>0.9557018839178697</c:v>
                </c:pt>
                <c:pt idx="8">
                  <c:v>8.266759825069165</c:v>
                </c:pt>
                <c:pt idx="9">
                  <c:v>5.225620612286284</c:v>
                </c:pt>
                <c:pt idx="10">
                  <c:v>1.6267186091784371</c:v>
                </c:pt>
                <c:pt idx="11">
                  <c:v>0.4934873132064884</c:v>
                </c:pt>
                <c:pt idx="12">
                  <c:v>0.0</c:v>
                </c:pt>
                <c:pt idx="13">
                  <c:v>0.0</c:v>
                </c:pt>
                <c:pt idx="14">
                  <c:v>2.8881109810437557</c:v>
                </c:pt>
                <c:pt idx="15">
                  <c:v>3.616963947278098</c:v>
                </c:pt>
                <c:pt idx="16">
                  <c:v>0.9743429842631354</c:v>
                </c:pt>
                <c:pt idx="17">
                  <c:v>2.759288979650461</c:v>
                </c:pt>
                <c:pt idx="18">
                  <c:v>0.756444287243263</c:v>
                </c:pt>
                <c:pt idx="19">
                  <c:v>0.5362818695534024</c:v>
                </c:pt>
                <c:pt idx="20">
                  <c:v>2.193182044803474</c:v>
                </c:pt>
                <c:pt idx="21">
                  <c:v>1.0730937170233812</c:v>
                </c:pt>
                <c:pt idx="22">
                  <c:v>0.5533461342315296</c:v>
                </c:pt>
                <c:pt idx="23">
                  <c:v>1.877409044709717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Sheet1!$A$2:$A$25</c:f>
              <c:strCache>
                <c:ptCount val="24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  <c:pt idx="10">
                  <c:v>Ultra Premium</c:v>
                </c:pt>
                <c:pt idx="11">
                  <c:v>Caats</c:v>
                </c:pt>
                <c:pt idx="12">
                  <c:v>Sheba</c:v>
                </c:pt>
                <c:pt idx="13">
                  <c:v>Gourmet</c:v>
                </c:pt>
                <c:pt idx="14">
                  <c:v>NSP</c:v>
                </c:pt>
                <c:pt idx="15">
                  <c:v>Frolic</c:v>
                </c:pt>
                <c:pt idx="16">
                  <c:v>Virbac</c:v>
                </c:pt>
                <c:pt idx="17">
                  <c:v>Fido</c:v>
                </c:pt>
                <c:pt idx="18">
                  <c:v>Edgar &amp; Cooper</c:v>
                </c:pt>
                <c:pt idx="19">
                  <c:v>Ownat</c:v>
                </c:pt>
                <c:pt idx="20">
                  <c:v>Cesar</c:v>
                </c:pt>
                <c:pt idx="21">
                  <c:v>Canaillou</c:v>
                </c:pt>
                <c:pt idx="22">
                  <c:v>Brekkies</c:v>
                </c:pt>
                <c:pt idx="23">
                  <c:v>Eukanuba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21.471781867260802</c:v>
                </c:pt>
                <c:pt idx="1">
                  <c:v>10.626735941371109</c:v>
                </c:pt>
                <c:pt idx="2">
                  <c:v>7.43461605550867</c:v>
                </c:pt>
                <c:pt idx="3">
                  <c:v>11.79048903621642</c:v>
                </c:pt>
                <c:pt idx="4">
                  <c:v>7.035563237083899</c:v>
                </c:pt>
                <c:pt idx="5">
                  <c:v>5.893224978042579</c:v>
                </c:pt>
                <c:pt idx="6">
                  <c:v>6.1635620410792</c:v>
                </c:pt>
                <c:pt idx="7">
                  <c:v>3.973884654393271</c:v>
                </c:pt>
                <c:pt idx="8">
                  <c:v>4.473383713078353</c:v>
                </c:pt>
                <c:pt idx="9">
                  <c:v>3.112183055578141</c:v>
                </c:pt>
                <c:pt idx="10">
                  <c:v>4.429045484669781</c:v>
                </c:pt>
                <c:pt idx="11">
                  <c:v>0.41395820720433696</c:v>
                </c:pt>
                <c:pt idx="12">
                  <c:v>1.145970932592618</c:v>
                </c:pt>
                <c:pt idx="13">
                  <c:v>0.0</c:v>
                </c:pt>
                <c:pt idx="14">
                  <c:v>1.391521040477691</c:v>
                </c:pt>
                <c:pt idx="15">
                  <c:v>2.145416133393165</c:v>
                </c:pt>
                <c:pt idx="16">
                  <c:v>0.5494565800294408</c:v>
                </c:pt>
                <c:pt idx="17">
                  <c:v>1.811905040681782</c:v>
                </c:pt>
                <c:pt idx="18">
                  <c:v>1.9913020666456651</c:v>
                </c:pt>
                <c:pt idx="19">
                  <c:v>2.509360359767535</c:v>
                </c:pt>
                <c:pt idx="20">
                  <c:v>0.3758939229056118</c:v>
                </c:pt>
                <c:pt idx="21">
                  <c:v>0.939664339147519</c:v>
                </c:pt>
                <c:pt idx="22">
                  <c:v>0.3210813128723124</c:v>
                </c:pt>
                <c:pt idx="23">
                  <c:v>0.0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Quelles sont toutes les AUTRES marques d’aliments pour chiens et chats que vous connaissez, ne serait-ce que de nom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46.45324854793429</c:v>
                </c:pt>
                <c:pt idx="1">
                  <c:v>37.90064842293944</c:v>
                </c:pt>
                <c:pt idx="2">
                  <c:v>31.70490117737033</c:v>
                </c:pt>
                <c:pt idx="3">
                  <c:v>27.83933995992744</c:v>
                </c:pt>
                <c:pt idx="4">
                  <c:v>21.41036297652965</c:v>
                </c:pt>
                <c:pt idx="5">
                  <c:v>19.84621171261989</c:v>
                </c:pt>
                <c:pt idx="6">
                  <c:v>17.02238223460073</c:v>
                </c:pt>
                <c:pt idx="7">
                  <c:v>12.702815925354418</c:v>
                </c:pt>
                <c:pt idx="8">
                  <c:v>12.641958094453809</c:v>
                </c:pt>
                <c:pt idx="9">
                  <c:v>11.9579278850469</c:v>
                </c:pt>
                <c:pt idx="10">
                  <c:v>8.90132230627396</c:v>
                </c:pt>
                <c:pt idx="11">
                  <c:v>7.306041789397703</c:v>
                </c:pt>
                <c:pt idx="12">
                  <c:v>6.768118501239371</c:v>
                </c:pt>
                <c:pt idx="13">
                  <c:v>6.561256030461358</c:v>
                </c:pt>
                <c:pt idx="14">
                  <c:v>6.228714766904233</c:v>
                </c:pt>
                <c:pt idx="15">
                  <c:v>3.855929344189978</c:v>
                </c:pt>
                <c:pt idx="16">
                  <c:v>3.561853644576665</c:v>
                </c:pt>
                <c:pt idx="17">
                  <c:v>3.12358260620195</c:v>
                </c:pt>
                <c:pt idx="18">
                  <c:v>2.939559692058741</c:v>
                </c:pt>
                <c:pt idx="19">
                  <c:v>2.789699172812611</c:v>
                </c:pt>
                <c:pt idx="20">
                  <c:v>2.631414175439531</c:v>
                </c:pt>
                <c:pt idx="21">
                  <c:v>2.375694745911389</c:v>
                </c:pt>
                <c:pt idx="22">
                  <c:v>1.139071452293132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56.93116223621314</c:v>
                </c:pt>
                <c:pt idx="1">
                  <c:v>34.039739888108386</c:v>
                </c:pt>
                <c:pt idx="2">
                  <c:v>44.08272030827181</c:v>
                </c:pt>
                <c:pt idx="3">
                  <c:v>30.52173890453481</c:v>
                </c:pt>
                <c:pt idx="4">
                  <c:v>30.53434964912206</c:v>
                </c:pt>
                <c:pt idx="5">
                  <c:v>19.77736488320575</c:v>
                </c:pt>
                <c:pt idx="6">
                  <c:v>18.15487438581025</c:v>
                </c:pt>
                <c:pt idx="7">
                  <c:v>3.3193187126164885</c:v>
                </c:pt>
                <c:pt idx="8">
                  <c:v>17.61524623662108</c:v>
                </c:pt>
                <c:pt idx="9">
                  <c:v>8.39648994934676</c:v>
                </c:pt>
                <c:pt idx="10">
                  <c:v>14.344276211636139</c:v>
                </c:pt>
                <c:pt idx="11">
                  <c:v>5.6581118468539</c:v>
                </c:pt>
                <c:pt idx="12">
                  <c:v>5.239072684456172</c:v>
                </c:pt>
                <c:pt idx="13">
                  <c:v>2.122777337784283</c:v>
                </c:pt>
                <c:pt idx="14">
                  <c:v>1.160630720071991</c:v>
                </c:pt>
                <c:pt idx="15">
                  <c:v>6.283616426155328</c:v>
                </c:pt>
                <c:pt idx="16">
                  <c:v>3.4248736536200037</c:v>
                </c:pt>
                <c:pt idx="17">
                  <c:v>4.019602934571418</c:v>
                </c:pt>
                <c:pt idx="18">
                  <c:v>2.271598056280571</c:v>
                </c:pt>
                <c:pt idx="19">
                  <c:v>1.518189394670042</c:v>
                </c:pt>
                <c:pt idx="20">
                  <c:v>1.014511743718542</c:v>
                </c:pt>
                <c:pt idx="21">
                  <c:v>0.45257000728119756</c:v>
                </c:pt>
                <c:pt idx="22">
                  <c:v>0.32426570866595517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27.29904990815697</c:v>
                </c:pt>
                <c:pt idx="1">
                  <c:v>49.30184610387077</c:v>
                </c:pt>
                <c:pt idx="2">
                  <c:v>7.922419302651868</c:v>
                </c:pt>
                <c:pt idx="3">
                  <c:v>20.72148055775285</c:v>
                </c:pt>
                <c:pt idx="4">
                  <c:v>4.298941959268808</c:v>
                </c:pt>
                <c:pt idx="5">
                  <c:v>16.91044656881861</c:v>
                </c:pt>
                <c:pt idx="6">
                  <c:v>14.86618346181945</c:v>
                </c:pt>
                <c:pt idx="7">
                  <c:v>26.60393031205056</c:v>
                </c:pt>
                <c:pt idx="8">
                  <c:v>2.737400092570516</c:v>
                </c:pt>
                <c:pt idx="9">
                  <c:v>15.336457967138761</c:v>
                </c:pt>
                <c:pt idx="10">
                  <c:v>0.43900451669603097</c:v>
                </c:pt>
                <c:pt idx="11">
                  <c:v>7.368023999938292</c:v>
                </c:pt>
                <c:pt idx="12">
                  <c:v>6.556923165105634</c:v>
                </c:pt>
                <c:pt idx="13">
                  <c:v>11.60318714933847</c:v>
                </c:pt>
                <c:pt idx="14">
                  <c:v>12.57681756795431</c:v>
                </c:pt>
                <c:pt idx="15">
                  <c:v>0.9157732021991433</c:v>
                </c:pt>
                <c:pt idx="16">
                  <c:v>3.9364318669516134</c:v>
                </c:pt>
                <c:pt idx="17">
                  <c:v>1.7334394316674742</c:v>
                </c:pt>
                <c:pt idx="18">
                  <c:v>2.409277598599779</c:v>
                </c:pt>
                <c:pt idx="19">
                  <c:v>5.838233582561734</c:v>
                </c:pt>
                <c:pt idx="20">
                  <c:v>5.934965400349793</c:v>
                </c:pt>
                <c:pt idx="21">
                  <c:v>3.906841791548468</c:v>
                </c:pt>
                <c:pt idx="22">
                  <c:v>1.423132780865134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Sheet1!$A$2:$A$24</c:f>
              <c:strCache>
                <c:ptCount val="2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  <c:pt idx="13">
                  <c:v>Frolic</c:v>
                </c:pt>
                <c:pt idx="14">
                  <c:v>Fido</c:v>
                </c:pt>
                <c:pt idx="15">
                  <c:v>Caats</c:v>
                </c:pt>
                <c:pt idx="16">
                  <c:v>Brekkies</c:v>
                </c:pt>
                <c:pt idx="17">
                  <c:v>Virbac</c:v>
                </c:pt>
                <c:pt idx="18">
                  <c:v>Canaillou</c:v>
                </c:pt>
                <c:pt idx="19">
                  <c:v>Canigou</c:v>
                </c:pt>
                <c:pt idx="20">
                  <c:v>Cesar</c:v>
                </c:pt>
                <c:pt idx="21">
                  <c:v>Eukanuba</c:v>
                </c:pt>
                <c:pt idx="22">
                  <c:v>Ownat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44.02780040520778</c:v>
                </c:pt>
                <c:pt idx="1">
                  <c:v>34.536784106083914</c:v>
                </c:pt>
                <c:pt idx="2">
                  <c:v>29.97203130352623</c:v>
                </c:pt>
                <c:pt idx="3">
                  <c:v>29.389033725861502</c:v>
                </c:pt>
                <c:pt idx="4">
                  <c:v>19.722074789791318</c:v>
                </c:pt>
                <c:pt idx="5">
                  <c:v>22.86339277795366</c:v>
                </c:pt>
                <c:pt idx="6">
                  <c:v>16.844477164360068</c:v>
                </c:pt>
                <c:pt idx="7">
                  <c:v>18.06321801507674</c:v>
                </c:pt>
                <c:pt idx="8">
                  <c:v>12.287812089325719</c:v>
                </c:pt>
                <c:pt idx="9">
                  <c:v>15.85254557553912</c:v>
                </c:pt>
                <c:pt idx="10">
                  <c:v>6.183015438886506</c:v>
                </c:pt>
                <c:pt idx="11">
                  <c:v>10.579845863452721</c:v>
                </c:pt>
                <c:pt idx="12">
                  <c:v>10.06915250709461</c:v>
                </c:pt>
                <c:pt idx="13">
                  <c:v>10.599955874136489</c:v>
                </c:pt>
                <c:pt idx="14">
                  <c:v>10.260999189587471</c:v>
                </c:pt>
                <c:pt idx="15">
                  <c:v>1.8257121883765801</c:v>
                </c:pt>
                <c:pt idx="16">
                  <c:v>3.4718394460415603</c:v>
                </c:pt>
                <c:pt idx="17">
                  <c:v>2.6732264616693118</c:v>
                </c:pt>
                <c:pt idx="18">
                  <c:v>4.810995708274209</c:v>
                </c:pt>
                <c:pt idx="19">
                  <c:v>2.37416618518993</c:v>
                </c:pt>
                <c:pt idx="20">
                  <c:v>2.664790793697559</c:v>
                </c:pt>
                <c:pt idx="21">
                  <c:v>4.766159575719936</c:v>
                </c:pt>
                <c:pt idx="22">
                  <c:v>2.509360359767535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Dans quelle mesure connaissez-vous les marques suivantes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8699999999999999"/>
        </c:manualLayout>
      </c:layout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Très bien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2.67682035663275</c:v>
                </c:pt>
                <c:pt idx="1">
                  <c:v>3.5107416831371507</c:v>
                </c:pt>
                <c:pt idx="2">
                  <c:v>6.395931648276078</c:v>
                </c:pt>
                <c:pt idx="3">
                  <c:v>7.90556598723497</c:v>
                </c:pt>
                <c:pt idx="4">
                  <c:v>11.68059989867299</c:v>
                </c:pt>
                <c:pt idx="5">
                  <c:v>13.082782981946787</c:v>
                </c:pt>
                <c:pt idx="6">
                  <c:v>15.119198369649933</c:v>
                </c:pt>
                <c:pt idx="7">
                  <c:v>21.89205805734444</c:v>
                </c:pt>
                <c:pt idx="8">
                  <c:v>23.332934143018637</c:v>
                </c:pt>
                <c:pt idx="9">
                  <c:v>28.863160923354787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Assez bien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4.255946286460581</c:v>
                </c:pt>
                <c:pt idx="1">
                  <c:v>3.5074234081983846</c:v>
                </c:pt>
                <c:pt idx="2">
                  <c:v>6.923321309468325</c:v>
                </c:pt>
                <c:pt idx="3">
                  <c:v>15.7634287107594</c:v>
                </c:pt>
                <c:pt idx="4">
                  <c:v>19.793769535316226</c:v>
                </c:pt>
                <c:pt idx="5">
                  <c:v>29.295280953653002</c:v>
                </c:pt>
                <c:pt idx="6">
                  <c:v>17.57264481484254</c:v>
                </c:pt>
                <c:pt idx="7">
                  <c:v>32.07402489755205</c:v>
                </c:pt>
                <c:pt idx="8">
                  <c:v>37.328737268205984</c:v>
                </c:pt>
                <c:pt idx="9">
                  <c:v>34.78912509249049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Juste de nom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13.813357085888525</c:v>
                </c:pt>
                <c:pt idx="1">
                  <c:v>11.041973431827273</c:v>
                </c:pt>
                <c:pt idx="2">
                  <c:v>17.28126098804387</c:v>
                </c:pt>
                <c:pt idx="3">
                  <c:v>41.78651392206752</c:v>
                </c:pt>
                <c:pt idx="4">
                  <c:v>36.03687597264232</c:v>
                </c:pt>
                <c:pt idx="5">
                  <c:v>36.731540447635794</c:v>
                </c:pt>
                <c:pt idx="6">
                  <c:v>36.014765528410585</c:v>
                </c:pt>
                <c:pt idx="7">
                  <c:v>38.52912616619302</c:v>
                </c:pt>
                <c:pt idx="8">
                  <c:v>34.08049482817045</c:v>
                </c:pt>
                <c:pt idx="9">
                  <c:v>32.537829936367594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Pas du tout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79.25387627101813</c:v>
                </c:pt>
                <c:pt idx="1">
                  <c:v>81.9398614768372</c:v>
                </c:pt>
                <c:pt idx="2">
                  <c:v>69.39948605421172</c:v>
                </c:pt>
                <c:pt idx="3">
                  <c:v>34.54449137993811</c:v>
                </c:pt>
                <c:pt idx="4">
                  <c:v>32.48875459336846</c:v>
                </c:pt>
                <c:pt idx="5">
                  <c:v>20.890395616764422</c:v>
                </c:pt>
                <c:pt idx="6">
                  <c:v>31.293391287096938</c:v>
                </c:pt>
                <c:pt idx="7">
                  <c:v>7.5047908789104945</c:v>
                </c:pt>
                <c:pt idx="8">
                  <c:v>5.257833760604931</c:v>
                </c:pt>
                <c:pt idx="9">
                  <c:v>3.809884047787139</c:v>
                </c:pt>
              </c:numCache>
            </c:numRef>
          </c:val>
        </c:ser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 marque d’aliments votre/vos animal(ux) consomme(nt)-t-il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18.795372284201417</c:v>
                </c:pt>
                <c:pt idx="1">
                  <c:v>16.67150480815401</c:v>
                </c:pt>
                <c:pt idx="2">
                  <c:v>15.929716275903488</c:v>
                </c:pt>
                <c:pt idx="3">
                  <c:v>14.25076662195686</c:v>
                </c:pt>
                <c:pt idx="4">
                  <c:v>9.000134857857155</c:v>
                </c:pt>
                <c:pt idx="5">
                  <c:v>5.8403223095502135</c:v>
                </c:pt>
                <c:pt idx="6">
                  <c:v>3.7545250821355505</c:v>
                </c:pt>
                <c:pt idx="7">
                  <c:v>1.8579570885800687</c:v>
                </c:pt>
                <c:pt idx="8">
                  <c:v>0.8265780873194344</c:v>
                </c:pt>
                <c:pt idx="9">
                  <c:v>0.5303536435392655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19.09688080088021</c:v>
                </c:pt>
                <c:pt idx="1">
                  <c:v>17.91407050940298</c:v>
                </c:pt>
                <c:pt idx="2">
                  <c:v>12.080597488501407</c:v>
                </c:pt>
                <c:pt idx="3">
                  <c:v>13.547951590684562</c:v>
                </c:pt>
                <c:pt idx="4">
                  <c:v>7.031832674776092</c:v>
                </c:pt>
                <c:pt idx="5">
                  <c:v>4.178149544912342</c:v>
                </c:pt>
                <c:pt idx="6">
                  <c:v>1.4863795126341814</c:v>
                </c:pt>
                <c:pt idx="7">
                  <c:v>2.1051603782904595</c:v>
                </c:pt>
                <c:pt idx="8">
                  <c:v>0.2678889241114443</c:v>
                </c:pt>
                <c:pt idx="9">
                  <c:v>0.22520177993259116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13.627732858291317</c:v>
                </c:pt>
                <c:pt idx="1">
                  <c:v>9.43175816698155</c:v>
                </c:pt>
                <c:pt idx="2">
                  <c:v>22.156428286167145</c:v>
                </c:pt>
                <c:pt idx="3">
                  <c:v>17.31791054981577</c:v>
                </c:pt>
                <c:pt idx="4">
                  <c:v>5.4453710407477525</c:v>
                </c:pt>
                <c:pt idx="5">
                  <c:v>2.7565730846057</c:v>
                </c:pt>
                <c:pt idx="6">
                  <c:v>2.937440182353917</c:v>
                </c:pt>
                <c:pt idx="7">
                  <c:v>0.7887738315238492</c:v>
                </c:pt>
                <c:pt idx="8">
                  <c:v>0.6092492391747577</c:v>
                </c:pt>
                <c:pt idx="9">
                  <c:v>1.7012689748230159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23.251004955185625</c:v>
                </c:pt>
                <c:pt idx="1">
                  <c:v>21.254165245103348</c:v>
                </c:pt>
                <c:pt idx="2">
                  <c:v>17.61443787729693</c:v>
                </c:pt>
                <c:pt idx="3">
                  <c:v>12.666244971053178</c:v>
                </c:pt>
                <c:pt idx="4">
                  <c:v>16.46762987881196</c:v>
                </c:pt>
                <c:pt idx="5">
                  <c:v>12.226642633101822</c:v>
                </c:pt>
                <c:pt idx="6">
                  <c:v>9.145058576679144</c:v>
                </c:pt>
                <c:pt idx="7">
                  <c:v>2.405843019605632</c:v>
                </c:pt>
                <c:pt idx="8">
                  <c:v>2.170121076115718</c:v>
                </c:pt>
                <c:pt idx="9">
                  <c:v>0.0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Si vous deviez acheter de la nourriture pour votre animal demain, quelles marques envisageriez-vous sérieusement d'acheter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32.526659207971015</c:v>
                </c:pt>
                <c:pt idx="1">
                  <c:v>31.474029288743978</c:v>
                </c:pt>
                <c:pt idx="2">
                  <c:v>27.504166940701445</c:v>
                </c:pt>
                <c:pt idx="3">
                  <c:v>23.483166220300973</c:v>
                </c:pt>
                <c:pt idx="4">
                  <c:v>16.157631754788518</c:v>
                </c:pt>
                <c:pt idx="5">
                  <c:v>15.81480974224009</c:v>
                </c:pt>
                <c:pt idx="6">
                  <c:v>15.430091254874196</c:v>
                </c:pt>
                <c:pt idx="7">
                  <c:v>10.646239465364957</c:v>
                </c:pt>
                <c:pt idx="8">
                  <c:v>6.726722979718143</c:v>
                </c:pt>
                <c:pt idx="9">
                  <c:v>4.042226853120673</c:v>
                </c:pt>
                <c:pt idx="10">
                  <c:v>2.859324616210963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35.633807062198755</c:v>
                </c:pt>
                <c:pt idx="1">
                  <c:v>32.67821164263355</c:v>
                </c:pt>
                <c:pt idx="2">
                  <c:v>22.296540847175287</c:v>
                </c:pt>
                <c:pt idx="3">
                  <c:v>23.803029038452586</c:v>
                </c:pt>
                <c:pt idx="4">
                  <c:v>14.81529756476529</c:v>
                </c:pt>
                <c:pt idx="5">
                  <c:v>15.303181534567722</c:v>
                </c:pt>
                <c:pt idx="6">
                  <c:v>16.331687182677275</c:v>
                </c:pt>
                <c:pt idx="7">
                  <c:v>9.955010234212203</c:v>
                </c:pt>
                <c:pt idx="8">
                  <c:v>7.262117445271161</c:v>
                </c:pt>
                <c:pt idx="9">
                  <c:v>2.5681729426780135</c:v>
                </c:pt>
                <c:pt idx="10">
                  <c:v>1.640284576331784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21.928830269260345</c:v>
                </c:pt>
                <c:pt idx="1">
                  <c:v>25.616249029298256</c:v>
                </c:pt>
                <c:pt idx="2">
                  <c:v>30.39876348595977</c:v>
                </c:pt>
                <c:pt idx="3">
                  <c:v>13.208160451804298</c:v>
                </c:pt>
                <c:pt idx="4">
                  <c:v>14.309112579521315</c:v>
                </c:pt>
                <c:pt idx="5">
                  <c:v>13.286413998012323</c:v>
                </c:pt>
                <c:pt idx="6">
                  <c:v>17.570910519768265</c:v>
                </c:pt>
                <c:pt idx="7">
                  <c:v>13.953730837902834</c:v>
                </c:pt>
                <c:pt idx="8">
                  <c:v>2.968298881061047</c:v>
                </c:pt>
                <c:pt idx="9">
                  <c:v>3.863728295942115</c:v>
                </c:pt>
                <c:pt idx="10">
                  <c:v>3.8421810220371806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36.628222151841065</c:v>
                </c:pt>
                <c:pt idx="1">
                  <c:v>34.779644573404866</c:v>
                </c:pt>
                <c:pt idx="2">
                  <c:v>35.20421425245203</c:v>
                </c:pt>
                <c:pt idx="3">
                  <c:v>32.90830582065458</c:v>
                </c:pt>
                <c:pt idx="4">
                  <c:v>20.685892329310438</c:v>
                </c:pt>
                <c:pt idx="5">
                  <c:v>19.328617063718408</c:v>
                </c:pt>
                <c:pt idx="6">
                  <c:v>11.507122806358952</c:v>
                </c:pt>
                <c:pt idx="7">
                  <c:v>8.802666427583103</c:v>
                </c:pt>
                <c:pt idx="8">
                  <c:v>9.32766567430126</c:v>
                </c:pt>
                <c:pt idx="9">
                  <c:v>7.199933497087482</c:v>
                </c:pt>
                <c:pt idx="10">
                  <c:v>4.362561657895642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Pour quelles raisons n'envisageriez-vous pas d'acheter la marque Hill’s ? (3 réponses maximum)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9279999999999999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Oui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Je pense que c'est une marque réservée uniquement aux animaux malades</c:v>
                </c:pt>
                <c:pt idx="1">
                  <c:v>Je n’ai pas vu assez d'avis positif en ligne</c:v>
                </c:pt>
                <c:pt idx="2">
                  <c:v>Je ne suis pas convaincu par l'efficacité ou les bénéfices santé</c:v>
                </c:pt>
                <c:pt idx="3">
                  <c:v>Autre</c:v>
                </c:pt>
                <c:pt idx="4">
                  <c:v>Je ne suis pas convaincu par la qualité de la composition (ingrédients)</c:v>
                </c:pt>
                <c:pt idx="5">
                  <c:v>Ce n'est pas une marque recommandée par mon vétérinaire</c:v>
                </c:pt>
                <c:pt idx="6">
                  <c:v>Mon animal a déjà testé cette marque et n’a pas aimé (ou eu une mauvaise expérience)</c:v>
                </c:pt>
                <c:pt idx="7">
                  <c:v>C'est une marque difficile à trouver (pas disponible dans mon supermarché ou lieu d’achat habituel)</c:v>
                </c:pt>
                <c:pt idx="8">
                  <c:v>Je ne connais pas assez la marque ou ses produits</c:v>
                </c:pt>
                <c:pt idx="9">
                  <c:v>Je trouve que le prix est trop élevé par rapport à mon budget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2.3557020713188193</c:v>
                </c:pt>
                <c:pt idx="1">
                  <c:v>2.624378158519556</c:v>
                </c:pt>
                <c:pt idx="2">
                  <c:v>6.077852007570066</c:v>
                </c:pt>
                <c:pt idx="3">
                  <c:v>6.091314049224787</c:v>
                </c:pt>
                <c:pt idx="4">
                  <c:v>8.597213886775968</c:v>
                </c:pt>
                <c:pt idx="5">
                  <c:v>8.963535163972033</c:v>
                </c:pt>
                <c:pt idx="6">
                  <c:v>13.48993527477409</c:v>
                </c:pt>
                <c:pt idx="7">
                  <c:v>16.61766601187839</c:v>
                </c:pt>
                <c:pt idx="8">
                  <c:v>35.7225308787182</c:v>
                </c:pt>
                <c:pt idx="9">
                  <c:v>39.89344119225079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 opinion avez-vous de la marque Hill’s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8699999999999999"/>
        </c:manualLayout>
      </c:layout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Une excellente opinion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14.457796290765229</c:v>
                </c:pt>
                <c:pt idx="1">
                  <c:v>25.893592871417052</c:v>
                </c:pt>
                <c:pt idx="2">
                  <c:v>26.813262093023084</c:v>
                </c:pt>
                <c:pt idx="3">
                  <c:v>38.63838755347951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Une assez bonne opinion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77.05614628969583</c:v>
                </c:pt>
                <c:pt idx="1">
                  <c:v>69.58004080722905</c:v>
                </c:pt>
                <c:pt idx="2">
                  <c:v>68.12990984190509</c:v>
                </c:pt>
                <c:pt idx="3">
                  <c:v>58.23904176982773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Une assez mauvaise opinion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6.182932023413066</c:v>
                </c:pt>
                <c:pt idx="1">
                  <c:v>3.999581795906716</c:v>
                </c:pt>
                <c:pt idx="2">
                  <c:v>3.9444482691538383</c:v>
                </c:pt>
                <c:pt idx="3">
                  <c:v>1.9932865267080286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Une très mauvaise opinion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2.303125396125869</c:v>
                </c:pt>
                <c:pt idx="1">
                  <c:v>0.5267845254471792</c:v>
                </c:pt>
                <c:pt idx="2">
                  <c:v>1.1123797959179897</c:v>
                </c:pt>
                <c:pt idx="3">
                  <c:v>1.1292841499847304</c:v>
                </c:pt>
              </c:numCache>
            </c:numRef>
          </c:val>
        </c:ser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C110E-4D96-4970-BC93-128DB3781455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D3E1C-85D9-4086-B36A-8235DDAA81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41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title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68D71C-808E-E2D0-7576-3F1F23F10E69}"/>
              </a:ext>
            </a:extLst>
          </p:cNvPr>
          <p:cNvSpPr/>
          <p:nvPr/>
        </p:nvSpPr>
        <p:spPr>
          <a:xfrm>
            <a:off x="33866" y="767216"/>
            <a:ext cx="5198534" cy="5198534"/>
          </a:xfrm>
          <a:prstGeom prst="ellipse">
            <a:avLst/>
          </a:prstGeom>
          <a:gradFill flip="none" rotWithShape="1">
            <a:gsLst>
              <a:gs pos="68000">
                <a:schemeClr val="accent1">
                  <a:alpha val="0"/>
                </a:schemeClr>
              </a:gs>
              <a:gs pos="9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8D5DA8-3B9F-1982-027D-A88DBE9D6715}"/>
              </a:ext>
            </a:extLst>
          </p:cNvPr>
          <p:cNvSpPr/>
          <p:nvPr/>
        </p:nvSpPr>
        <p:spPr>
          <a:xfrm flipV="1">
            <a:off x="0" y="3063535"/>
            <a:ext cx="3789114" cy="3794465"/>
          </a:xfrm>
          <a:prstGeom prst="rect">
            <a:avLst/>
          </a:prstGeom>
          <a:gradFill flip="none" rotWithShape="1">
            <a:gsLst>
              <a:gs pos="67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B4847A4-4335-046C-84E2-AE2A99B6C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188" y="1882775"/>
            <a:ext cx="9555162" cy="4435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graph_ver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359516-6C5A-2D25-3C9F-86911BB902F2}"/>
              </a:ext>
            </a:extLst>
          </p:cNvPr>
          <p:cNvSpPr/>
          <p:nvPr/>
        </p:nvSpPr>
        <p:spPr>
          <a:xfrm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99D28-6B0B-66A5-056C-8241B528F204}"/>
              </a:ext>
            </a:extLst>
          </p:cNvPr>
          <p:cNvSpPr/>
          <p:nvPr/>
        </p:nvSpPr>
        <p:spPr>
          <a:xfrm rot="10800000" flipV="1">
            <a:off x="9912350" y="0"/>
            <a:ext cx="2275718" cy="2278932"/>
          </a:xfrm>
          <a:prstGeom prst="rect">
            <a:avLst/>
          </a:prstGeom>
          <a:gradFill flip="none" rotWithShape="1">
            <a:gsLst>
              <a:gs pos="67000">
                <a:schemeClr val="accent3">
                  <a:alpha val="0"/>
                </a:schemeClr>
              </a:gs>
              <a:gs pos="13000">
                <a:schemeClr val="accent3">
                  <a:alpha val="6645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graphique 5">
            <a:extLst>
              <a:ext uri="{FF2B5EF4-FFF2-40B4-BE49-F238E27FC236}">
                <a16:creationId xmlns:a16="http://schemas.microsoft.com/office/drawing/2014/main" id="{4E6D8AB0-65E2-1911-2D04-131867B6D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57188" y="1769675"/>
            <a:ext cx="11452374" cy="421957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72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graph_h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46E7A1-ECE2-8242-FAB7-000BD11FB6DF}"/>
              </a:ext>
            </a:extLst>
          </p:cNvPr>
          <p:cNvSpPr/>
          <p:nvPr/>
        </p:nvSpPr>
        <p:spPr>
          <a:xfrm rot="5400000" flipH="1" flipV="1">
            <a:off x="2492" y="3325098"/>
            <a:ext cx="3530409" cy="3535394"/>
          </a:xfrm>
          <a:prstGeom prst="rect">
            <a:avLst/>
          </a:prstGeom>
          <a:gradFill flip="none" rotWithShape="1">
            <a:gsLst>
              <a:gs pos="67000">
                <a:schemeClr val="accent5">
                  <a:alpha val="0"/>
                </a:schemeClr>
              </a:gs>
              <a:gs pos="13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/>
        </p:nvSpPr>
        <p:spPr>
          <a:xfrm rot="16200000" flipH="1" flipV="1">
            <a:off x="7895747" y="-3030"/>
            <a:ext cx="4293222" cy="4299284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55700" y="1768475"/>
            <a:ext cx="9385300" cy="42926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9940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788F2B-3332-FC72-70D7-6F005F1F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7E46B7-7836-E1F9-9ECC-B6163C7A5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6CF1B-4EDE-405C-B40E-340275693B51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50881-98AA-E45E-0DF7-6AC06A133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A0786-DD99-BA7A-214A-FF793CACF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1E901-318D-40B6-ABD2-DA774725AC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3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081CF99-96D3-07FB-E5EF-82A0C04D8B5D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0F5F8231-314C-4115-A52D-C82F0BD5BC9D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081CF99-96D3-07FB-E5EF-82A0C04D8B5D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0F5F8231-314C-4115-A52D-C82F0BD5BC9D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081CF99-96D3-07FB-E5EF-82A0C04D8B5D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0F5F8231-314C-4115-A52D-C82F0BD5BC9D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000050"/>
      </a:dk1>
      <a:lt1>
        <a:sysClr val="window" lastClr="FFFFFF"/>
      </a:lt1>
      <a:dk2>
        <a:srgbClr val="0E2841"/>
      </a:dk2>
      <a:lt2>
        <a:srgbClr val="E8F1F4"/>
      </a:lt2>
      <a:accent1>
        <a:srgbClr val="B0F467"/>
      </a:accent1>
      <a:accent2>
        <a:srgbClr val="93DFE3"/>
      </a:accent2>
      <a:accent3>
        <a:srgbClr val="5465FF"/>
      </a:accent3>
      <a:accent4>
        <a:srgbClr val="788BFF"/>
      </a:accent4>
      <a:accent5>
        <a:srgbClr val="00DBEE"/>
      </a:accent5>
      <a:accent6>
        <a:srgbClr val="FCFE67"/>
      </a:accent6>
      <a:hlink>
        <a:srgbClr val="00DBEE"/>
      </a:hlink>
      <a:folHlink>
        <a:srgbClr val="00DBE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Grand écran</PresentationFormat>
  <Paragraphs>3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Le</dc:creator>
  <cp:lastModifiedBy>Louise Le</cp:lastModifiedBy>
  <cp:revision>2</cp:revision>
  <dcterms:created xsi:type="dcterms:W3CDTF">2026-04-22T09:22:27Z</dcterms:created>
  <dcterms:modified xsi:type="dcterms:W3CDTF">2026-04-22T12:11:02Z</dcterms:modified>
</cp:coreProperties>
</file>