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2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041E93-E1FE-4BA9-8217-D55B7C2A1F8F}" v="3" dt="2026-04-22T09:54:10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Quelles sont toutes les marques d’aliments pour ANIMAL que vous connaissez ne serait-ce que de nom ?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"/>
          <c:y val="0.048"/>
          <c:w val="1.0"/>
          <c:h val="0.7129999999999999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18-70 ans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Sheet1!$A$2:$A$25</c:f>
              <c:strCache>
                <c:ptCount val="24"/>
                <c:pt idx="0">
                  <c:v>Purina (Purina One)</c:v>
                </c:pt>
                <c:pt idx="1">
                  <c:v>Autres</c:v>
                </c:pt>
                <c:pt idx="2">
                  <c:v>Royal Canin</c:v>
                </c:pt>
                <c:pt idx="3">
                  <c:v>Hill's</c:v>
                </c:pt>
                <c:pt idx="4">
                  <c:v>Friskies</c:v>
                </c:pt>
                <c:pt idx="5">
                  <c:v>Whiskas</c:v>
                </c:pt>
                <c:pt idx="6">
                  <c:v>Ultima</c:v>
                </c:pt>
                <c:pt idx="7">
                  <c:v>Felix</c:v>
                </c:pt>
                <c:pt idx="8">
                  <c:v>Pedigree</c:v>
                </c:pt>
                <c:pt idx="9">
                  <c:v>Pro Plan</c:v>
                </c:pt>
                <c:pt idx="10">
                  <c:v>Ultra Premium</c:v>
                </c:pt>
                <c:pt idx="11">
                  <c:v>Caats</c:v>
                </c:pt>
                <c:pt idx="12">
                  <c:v>Sheba</c:v>
                </c:pt>
                <c:pt idx="13">
                  <c:v>Gourmet</c:v>
                </c:pt>
                <c:pt idx="14">
                  <c:v>NSP</c:v>
                </c:pt>
                <c:pt idx="15">
                  <c:v>Frolic</c:v>
                </c:pt>
                <c:pt idx="16">
                  <c:v>Virbac</c:v>
                </c:pt>
                <c:pt idx="17">
                  <c:v>Fido</c:v>
                </c:pt>
                <c:pt idx="18">
                  <c:v>Edgar &amp; Cooper</c:v>
                </c:pt>
                <c:pt idx="19">
                  <c:v>Ownat</c:v>
                </c:pt>
                <c:pt idx="20">
                  <c:v>Cesar</c:v>
                </c:pt>
                <c:pt idx="21">
                  <c:v>Canaillou</c:v>
                </c:pt>
                <c:pt idx="22">
                  <c:v>Brekkies</c:v>
                </c:pt>
                <c:pt idx="23">
                  <c:v>Eukanuba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20.55528814230827</c:v>
                </c:pt>
                <c:pt idx="1">
                  <c:v>12.632980238260268</c:v>
                </c:pt>
                <c:pt idx="2">
                  <c:v>12.014435459945021</c:v>
                </c:pt>
                <c:pt idx="3">
                  <c:v>7.0620599842790215</c:v>
                </c:pt>
                <c:pt idx="4">
                  <c:v>7.000407988086191</c:v>
                </c:pt>
                <c:pt idx="5">
                  <c:v>6.924364924211766</c:v>
                </c:pt>
                <c:pt idx="6">
                  <c:v>5.946792394424987</c:v>
                </c:pt>
                <c:pt idx="7">
                  <c:v>4.319866646272323</c:v>
                </c:pt>
                <c:pt idx="8">
                  <c:v>3.2718817078553704</c:v>
                </c:pt>
                <c:pt idx="9">
                  <c:v>2.6056347541347358</c:v>
                </c:pt>
                <c:pt idx="10">
                  <c:v>2.5796201022935152</c:v>
                </c:pt>
                <c:pt idx="11">
                  <c:v>1.850925151144367</c:v>
                </c:pt>
                <c:pt idx="12">
                  <c:v>1.7328534606978339</c:v>
                </c:pt>
                <c:pt idx="13">
                  <c:v>1.5353975999005591</c:v>
                </c:pt>
                <c:pt idx="14">
                  <c:v>1.528656770897078</c:v>
                </c:pt>
                <c:pt idx="15">
                  <c:v>1.421424679317732</c:v>
                </c:pt>
                <c:pt idx="16">
                  <c:v>1.271958549304367</c:v>
                </c:pt>
                <c:pt idx="17">
                  <c:v>1.128132739859197</c:v>
                </c:pt>
                <c:pt idx="18">
                  <c:v>0.9508046085082359</c:v>
                </c:pt>
                <c:pt idx="19">
                  <c:v>0.92193544019637</c:v>
                </c:pt>
                <c:pt idx="20">
                  <c:v>0.8156701411951265</c:v>
                </c:pt>
                <c:pt idx="21">
                  <c:v>0.6978333078211924</c:v>
                </c:pt>
                <c:pt idx="22">
                  <c:v>0.6739875092668939</c:v>
                </c:pt>
                <c:pt idx="23">
                  <c:v>0.5570876998196529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Possède chat uniquement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184BC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Sheet1!$A$2:$A$25</c:f>
              <c:strCache>
                <c:ptCount val="24"/>
                <c:pt idx="0">
                  <c:v>Purina (Purina One)</c:v>
                </c:pt>
                <c:pt idx="1">
                  <c:v>Autres</c:v>
                </c:pt>
                <c:pt idx="2">
                  <c:v>Royal Canin</c:v>
                </c:pt>
                <c:pt idx="3">
                  <c:v>Hill's</c:v>
                </c:pt>
                <c:pt idx="4">
                  <c:v>Friskies</c:v>
                </c:pt>
                <c:pt idx="5">
                  <c:v>Whiskas</c:v>
                </c:pt>
                <c:pt idx="6">
                  <c:v>Ultima</c:v>
                </c:pt>
                <c:pt idx="7">
                  <c:v>Felix</c:v>
                </c:pt>
                <c:pt idx="8">
                  <c:v>Pedigree</c:v>
                </c:pt>
                <c:pt idx="9">
                  <c:v>Pro Plan</c:v>
                </c:pt>
                <c:pt idx="10">
                  <c:v>Ultra Premium</c:v>
                </c:pt>
                <c:pt idx="11">
                  <c:v>Caats</c:v>
                </c:pt>
                <c:pt idx="12">
                  <c:v>Sheba</c:v>
                </c:pt>
                <c:pt idx="13">
                  <c:v>Gourmet</c:v>
                </c:pt>
                <c:pt idx="14">
                  <c:v>NSP</c:v>
                </c:pt>
                <c:pt idx="15">
                  <c:v>Frolic</c:v>
                </c:pt>
                <c:pt idx="16">
                  <c:v>Virbac</c:v>
                </c:pt>
                <c:pt idx="17">
                  <c:v>Fido</c:v>
                </c:pt>
                <c:pt idx="18">
                  <c:v>Edgar &amp; Cooper</c:v>
                </c:pt>
                <c:pt idx="19">
                  <c:v>Ownat</c:v>
                </c:pt>
                <c:pt idx="20">
                  <c:v>Cesar</c:v>
                </c:pt>
                <c:pt idx="21">
                  <c:v>Canaillou</c:v>
                </c:pt>
                <c:pt idx="22">
                  <c:v>Brekkies</c:v>
                </c:pt>
                <c:pt idx="23">
                  <c:v>Eukanuba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26.11214879691473</c:v>
                </c:pt>
                <c:pt idx="1">
                  <c:v>12.03227640191376</c:v>
                </c:pt>
                <c:pt idx="2">
                  <c:v>9.673585074167324</c:v>
                </c:pt>
                <c:pt idx="3">
                  <c:v>5.567163297940616</c:v>
                </c:pt>
                <c:pt idx="4">
                  <c:v>7.209757752498342</c:v>
                </c:pt>
                <c:pt idx="5">
                  <c:v>9.808879829521835</c:v>
                </c:pt>
                <c:pt idx="6">
                  <c:v>5.456997567478236</c:v>
                </c:pt>
                <c:pt idx="7">
                  <c:v>6.1206218418953755</c:v>
                </c:pt>
                <c:pt idx="8">
                  <c:v>0.2583312046505823</c:v>
                </c:pt>
                <c:pt idx="9">
                  <c:v>1.086046263365033</c:v>
                </c:pt>
                <c:pt idx="10">
                  <c:v>2.127274324662937</c:v>
                </c:pt>
                <c:pt idx="11">
                  <c:v>3.218680989170619</c:v>
                </c:pt>
                <c:pt idx="12">
                  <c:v>2.8623709045680212</c:v>
                </c:pt>
                <c:pt idx="13">
                  <c:v>3.038010264285659</c:v>
                </c:pt>
                <c:pt idx="14">
                  <c:v>0.9378401802301074</c:v>
                </c:pt>
                <c:pt idx="15">
                  <c:v>0.0</c:v>
                </c:pt>
                <c:pt idx="16">
                  <c:v>1.773196595388591</c:v>
                </c:pt>
                <c:pt idx="17">
                  <c:v>0.0</c:v>
                </c:pt>
                <c:pt idx="18">
                  <c:v>0.5307523753883918</c:v>
                </c:pt>
                <c:pt idx="19">
                  <c:v>0.32426570866595517</c:v>
                </c:pt>
                <c:pt idx="20">
                  <c:v>0.3656693667398183</c:v>
                </c:pt>
                <c:pt idx="21">
                  <c:v>0.3965260696847644</c:v>
                </c:pt>
                <c:pt idx="22">
                  <c:v>0.9068373300708078</c:v>
                </c:pt>
                <c:pt idx="23">
                  <c:v>0.1927678607986196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Possède chien uniquement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72A32E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Sheet1!$A$2:$A$25</c:f>
              <c:strCache>
                <c:ptCount val="24"/>
                <c:pt idx="0">
                  <c:v>Purina (Purina One)</c:v>
                </c:pt>
                <c:pt idx="1">
                  <c:v>Autres</c:v>
                </c:pt>
                <c:pt idx="2">
                  <c:v>Royal Canin</c:v>
                </c:pt>
                <c:pt idx="3">
                  <c:v>Hill's</c:v>
                </c:pt>
                <c:pt idx="4">
                  <c:v>Friskies</c:v>
                </c:pt>
                <c:pt idx="5">
                  <c:v>Whiskas</c:v>
                </c:pt>
                <c:pt idx="6">
                  <c:v>Ultima</c:v>
                </c:pt>
                <c:pt idx="7">
                  <c:v>Felix</c:v>
                </c:pt>
                <c:pt idx="8">
                  <c:v>Pedigree</c:v>
                </c:pt>
                <c:pt idx="9">
                  <c:v>Pro Plan</c:v>
                </c:pt>
                <c:pt idx="10">
                  <c:v>Ultra Premium</c:v>
                </c:pt>
                <c:pt idx="11">
                  <c:v>Caats</c:v>
                </c:pt>
                <c:pt idx="12">
                  <c:v>Sheba</c:v>
                </c:pt>
                <c:pt idx="13">
                  <c:v>Gourmet</c:v>
                </c:pt>
                <c:pt idx="14">
                  <c:v>NSP</c:v>
                </c:pt>
                <c:pt idx="15">
                  <c:v>Frolic</c:v>
                </c:pt>
                <c:pt idx="16">
                  <c:v>Virbac</c:v>
                </c:pt>
                <c:pt idx="17">
                  <c:v>Fido</c:v>
                </c:pt>
                <c:pt idx="18">
                  <c:v>Edgar &amp; Cooper</c:v>
                </c:pt>
                <c:pt idx="19">
                  <c:v>Ownat</c:v>
                </c:pt>
                <c:pt idx="20">
                  <c:v>Cesar</c:v>
                </c:pt>
                <c:pt idx="21">
                  <c:v>Canaillou</c:v>
                </c:pt>
                <c:pt idx="22">
                  <c:v>Brekkies</c:v>
                </c:pt>
                <c:pt idx="23">
                  <c:v>Eukanuba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8.149922177469108</c:v>
                </c:pt>
                <c:pt idx="1">
                  <c:v>15.91955344062482</c:v>
                </c:pt>
                <c:pt idx="2">
                  <c:v>21.51835588452854</c:v>
                </c:pt>
                <c:pt idx="3">
                  <c:v>5.324263995611531</c:v>
                </c:pt>
                <c:pt idx="4">
                  <c:v>6.532407117029529</c:v>
                </c:pt>
                <c:pt idx="5">
                  <c:v>2.022051965912898</c:v>
                </c:pt>
                <c:pt idx="6">
                  <c:v>6.736693185365103</c:v>
                </c:pt>
                <c:pt idx="7">
                  <c:v>0.9557018839178697</c:v>
                </c:pt>
                <c:pt idx="8">
                  <c:v>8.266759825069165</c:v>
                </c:pt>
                <c:pt idx="9">
                  <c:v>5.225620612286284</c:v>
                </c:pt>
                <c:pt idx="10">
                  <c:v>1.6267186091784371</c:v>
                </c:pt>
                <c:pt idx="11">
                  <c:v>0.4934873132064884</c:v>
                </c:pt>
                <c:pt idx="12">
                  <c:v>0.0</c:v>
                </c:pt>
                <c:pt idx="13">
                  <c:v>0.0</c:v>
                </c:pt>
                <c:pt idx="14">
                  <c:v>2.8881109810437557</c:v>
                </c:pt>
                <c:pt idx="15">
                  <c:v>3.616963947278098</c:v>
                </c:pt>
                <c:pt idx="16">
                  <c:v>0.9743429842631354</c:v>
                </c:pt>
                <c:pt idx="17">
                  <c:v>2.759288979650461</c:v>
                </c:pt>
                <c:pt idx="18">
                  <c:v>0.756444287243263</c:v>
                </c:pt>
                <c:pt idx="19">
                  <c:v>0.5362818695534024</c:v>
                </c:pt>
                <c:pt idx="20">
                  <c:v>2.193182044803474</c:v>
                </c:pt>
                <c:pt idx="21">
                  <c:v>1.0730937170233812</c:v>
                </c:pt>
                <c:pt idx="22">
                  <c:v>0.5533461342315296</c:v>
                </c:pt>
                <c:pt idx="23">
                  <c:v>1.877409044709717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Possède chien et chat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A8229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Sheet1!$A$2:$A$25</c:f>
              <c:strCache>
                <c:ptCount val="24"/>
                <c:pt idx="0">
                  <c:v>Purina (Purina One)</c:v>
                </c:pt>
                <c:pt idx="1">
                  <c:v>Autres</c:v>
                </c:pt>
                <c:pt idx="2">
                  <c:v>Royal Canin</c:v>
                </c:pt>
                <c:pt idx="3">
                  <c:v>Hill's</c:v>
                </c:pt>
                <c:pt idx="4">
                  <c:v>Friskies</c:v>
                </c:pt>
                <c:pt idx="5">
                  <c:v>Whiskas</c:v>
                </c:pt>
                <c:pt idx="6">
                  <c:v>Ultima</c:v>
                </c:pt>
                <c:pt idx="7">
                  <c:v>Felix</c:v>
                </c:pt>
                <c:pt idx="8">
                  <c:v>Pedigree</c:v>
                </c:pt>
                <c:pt idx="9">
                  <c:v>Pro Plan</c:v>
                </c:pt>
                <c:pt idx="10">
                  <c:v>Ultra Premium</c:v>
                </c:pt>
                <c:pt idx="11">
                  <c:v>Caats</c:v>
                </c:pt>
                <c:pt idx="12">
                  <c:v>Sheba</c:v>
                </c:pt>
                <c:pt idx="13">
                  <c:v>Gourmet</c:v>
                </c:pt>
                <c:pt idx="14">
                  <c:v>NSP</c:v>
                </c:pt>
                <c:pt idx="15">
                  <c:v>Frolic</c:v>
                </c:pt>
                <c:pt idx="16">
                  <c:v>Virbac</c:v>
                </c:pt>
                <c:pt idx="17">
                  <c:v>Fido</c:v>
                </c:pt>
                <c:pt idx="18">
                  <c:v>Edgar &amp; Cooper</c:v>
                </c:pt>
                <c:pt idx="19">
                  <c:v>Ownat</c:v>
                </c:pt>
                <c:pt idx="20">
                  <c:v>Cesar</c:v>
                </c:pt>
                <c:pt idx="21">
                  <c:v>Canaillou</c:v>
                </c:pt>
                <c:pt idx="22">
                  <c:v>Brekkies</c:v>
                </c:pt>
                <c:pt idx="23">
                  <c:v>Eukanuba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21.471781867260802</c:v>
                </c:pt>
                <c:pt idx="1">
                  <c:v>10.626735941371109</c:v>
                </c:pt>
                <c:pt idx="2">
                  <c:v>7.43461605550867</c:v>
                </c:pt>
                <c:pt idx="3">
                  <c:v>11.79048903621642</c:v>
                </c:pt>
                <c:pt idx="4">
                  <c:v>7.035563237083899</c:v>
                </c:pt>
                <c:pt idx="5">
                  <c:v>5.893224978042579</c:v>
                </c:pt>
                <c:pt idx="6">
                  <c:v>6.1635620410792</c:v>
                </c:pt>
                <c:pt idx="7">
                  <c:v>3.973884654393271</c:v>
                </c:pt>
                <c:pt idx="8">
                  <c:v>4.473383713078353</c:v>
                </c:pt>
                <c:pt idx="9">
                  <c:v>3.112183055578141</c:v>
                </c:pt>
                <c:pt idx="10">
                  <c:v>4.429045484669781</c:v>
                </c:pt>
                <c:pt idx="11">
                  <c:v>0.41395820720433696</c:v>
                </c:pt>
                <c:pt idx="12">
                  <c:v>1.145970932592618</c:v>
                </c:pt>
                <c:pt idx="13">
                  <c:v>0.0</c:v>
                </c:pt>
                <c:pt idx="14">
                  <c:v>1.391521040477691</c:v>
                </c:pt>
                <c:pt idx="15">
                  <c:v>2.145416133393165</c:v>
                </c:pt>
                <c:pt idx="16">
                  <c:v>0.5494565800294408</c:v>
                </c:pt>
                <c:pt idx="17">
                  <c:v>1.811905040681782</c:v>
                </c:pt>
                <c:pt idx="18">
                  <c:v>1.9913020666456651</c:v>
                </c:pt>
                <c:pt idx="19">
                  <c:v>2.509360359767535</c:v>
                </c:pt>
                <c:pt idx="20">
                  <c:v>0.3758939229056118</c:v>
                </c:pt>
                <c:pt idx="21">
                  <c:v>0.939664339147519</c:v>
                </c:pt>
                <c:pt idx="22">
                  <c:v>0.3210813128723124</c:v>
                </c:pt>
                <c:pt idx="23">
                  <c:v>0.0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ayout>
        <c:manualLayout>
          <c:xMode val="edge"/>
          <c:yMode val="edge"/>
          <c:x val="0.05"/>
          <c:y val="0.946"/>
          <c:w val="0.9"/>
          <c:h val="0.048"/>
        </c:manualLayout>
      </c:layout>
      <c:legendPos val="b"/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Quelles sont toutes les AUTRES marques d’aliments pour chiens et chats que vous connaissez, ne serait-ce que de nom ?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"/>
          <c:y val="0.048"/>
          <c:w val="1.0"/>
          <c:h val="0.7129999999999999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18-70 ans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Sheet1!$A$2:$A$24</c:f>
              <c:strCache>
                <c:ptCount val="23"/>
                <c:pt idx="0">
                  <c:v>Purina (Purina One)</c:v>
                </c:pt>
                <c:pt idx="1">
                  <c:v>Royal Canin</c:v>
                </c:pt>
                <c:pt idx="2">
                  <c:v>Whiskas</c:v>
                </c:pt>
                <c:pt idx="3">
                  <c:v>Friskies</c:v>
                </c:pt>
                <c:pt idx="4">
                  <c:v>Felix</c:v>
                </c:pt>
                <c:pt idx="5">
                  <c:v>Hill's</c:v>
                </c:pt>
                <c:pt idx="6">
                  <c:v>Ultima</c:v>
                </c:pt>
                <c:pt idx="7">
                  <c:v>Pedigree</c:v>
                </c:pt>
                <c:pt idx="8">
                  <c:v>Sheba</c:v>
                </c:pt>
                <c:pt idx="9">
                  <c:v>Pro Plan</c:v>
                </c:pt>
                <c:pt idx="10">
                  <c:v>Gourmet</c:v>
                </c:pt>
                <c:pt idx="11">
                  <c:v>Edgar &amp; Cooper</c:v>
                </c:pt>
                <c:pt idx="12">
                  <c:v>Ultra Premium</c:v>
                </c:pt>
                <c:pt idx="13">
                  <c:v>Frolic</c:v>
                </c:pt>
                <c:pt idx="14">
                  <c:v>Fido</c:v>
                </c:pt>
                <c:pt idx="15">
                  <c:v>Caats</c:v>
                </c:pt>
                <c:pt idx="16">
                  <c:v>Brekkies</c:v>
                </c:pt>
                <c:pt idx="17">
                  <c:v>Virbac</c:v>
                </c:pt>
                <c:pt idx="18">
                  <c:v>Canaillou</c:v>
                </c:pt>
                <c:pt idx="19">
                  <c:v>Canigou</c:v>
                </c:pt>
                <c:pt idx="20">
                  <c:v>Cesar</c:v>
                </c:pt>
                <c:pt idx="21">
                  <c:v>Eukanuba</c:v>
                </c:pt>
                <c:pt idx="22">
                  <c:v>Ownat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46.45324854793429</c:v>
                </c:pt>
                <c:pt idx="1">
                  <c:v>37.90064842293944</c:v>
                </c:pt>
                <c:pt idx="2">
                  <c:v>31.70490117737033</c:v>
                </c:pt>
                <c:pt idx="3">
                  <c:v>27.83933995992744</c:v>
                </c:pt>
                <c:pt idx="4">
                  <c:v>21.41036297652965</c:v>
                </c:pt>
                <c:pt idx="5">
                  <c:v>19.84621171261989</c:v>
                </c:pt>
                <c:pt idx="6">
                  <c:v>17.02238223460073</c:v>
                </c:pt>
                <c:pt idx="7">
                  <c:v>12.702815925354418</c:v>
                </c:pt>
                <c:pt idx="8">
                  <c:v>12.641958094453809</c:v>
                </c:pt>
                <c:pt idx="9">
                  <c:v>11.9579278850469</c:v>
                </c:pt>
                <c:pt idx="10">
                  <c:v>8.90132230627396</c:v>
                </c:pt>
                <c:pt idx="11">
                  <c:v>7.306041789397703</c:v>
                </c:pt>
                <c:pt idx="12">
                  <c:v>6.768118501239371</c:v>
                </c:pt>
                <c:pt idx="13">
                  <c:v>6.561256030461358</c:v>
                </c:pt>
                <c:pt idx="14">
                  <c:v>6.228714766904233</c:v>
                </c:pt>
                <c:pt idx="15">
                  <c:v>3.855929344189978</c:v>
                </c:pt>
                <c:pt idx="16">
                  <c:v>3.561853644576665</c:v>
                </c:pt>
                <c:pt idx="17">
                  <c:v>3.12358260620195</c:v>
                </c:pt>
                <c:pt idx="18">
                  <c:v>2.939559692058741</c:v>
                </c:pt>
                <c:pt idx="19">
                  <c:v>2.789699172812611</c:v>
                </c:pt>
                <c:pt idx="20">
                  <c:v>2.631414175439531</c:v>
                </c:pt>
                <c:pt idx="21">
                  <c:v>2.375694745911389</c:v>
                </c:pt>
                <c:pt idx="22">
                  <c:v>1.139071452293132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Possède chat uniquement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184BC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Sheet1!$A$2:$A$24</c:f>
              <c:strCache>
                <c:ptCount val="23"/>
                <c:pt idx="0">
                  <c:v>Purina (Purina One)</c:v>
                </c:pt>
                <c:pt idx="1">
                  <c:v>Royal Canin</c:v>
                </c:pt>
                <c:pt idx="2">
                  <c:v>Whiskas</c:v>
                </c:pt>
                <c:pt idx="3">
                  <c:v>Friskies</c:v>
                </c:pt>
                <c:pt idx="4">
                  <c:v>Felix</c:v>
                </c:pt>
                <c:pt idx="5">
                  <c:v>Hill's</c:v>
                </c:pt>
                <c:pt idx="6">
                  <c:v>Ultima</c:v>
                </c:pt>
                <c:pt idx="7">
                  <c:v>Pedigree</c:v>
                </c:pt>
                <c:pt idx="8">
                  <c:v>Sheba</c:v>
                </c:pt>
                <c:pt idx="9">
                  <c:v>Pro Plan</c:v>
                </c:pt>
                <c:pt idx="10">
                  <c:v>Gourmet</c:v>
                </c:pt>
                <c:pt idx="11">
                  <c:v>Edgar &amp; Cooper</c:v>
                </c:pt>
                <c:pt idx="12">
                  <c:v>Ultra Premium</c:v>
                </c:pt>
                <c:pt idx="13">
                  <c:v>Frolic</c:v>
                </c:pt>
                <c:pt idx="14">
                  <c:v>Fido</c:v>
                </c:pt>
                <c:pt idx="15">
                  <c:v>Caats</c:v>
                </c:pt>
                <c:pt idx="16">
                  <c:v>Brekkies</c:v>
                </c:pt>
                <c:pt idx="17">
                  <c:v>Virbac</c:v>
                </c:pt>
                <c:pt idx="18">
                  <c:v>Canaillou</c:v>
                </c:pt>
                <c:pt idx="19">
                  <c:v>Canigou</c:v>
                </c:pt>
                <c:pt idx="20">
                  <c:v>Cesar</c:v>
                </c:pt>
                <c:pt idx="21">
                  <c:v>Eukanuba</c:v>
                </c:pt>
                <c:pt idx="22">
                  <c:v>Ownat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56.93116223621314</c:v>
                </c:pt>
                <c:pt idx="1">
                  <c:v>34.039739888108386</c:v>
                </c:pt>
                <c:pt idx="2">
                  <c:v>44.08272030827181</c:v>
                </c:pt>
                <c:pt idx="3">
                  <c:v>30.52173890453481</c:v>
                </c:pt>
                <c:pt idx="4">
                  <c:v>30.53434964912206</c:v>
                </c:pt>
                <c:pt idx="5">
                  <c:v>19.77736488320575</c:v>
                </c:pt>
                <c:pt idx="6">
                  <c:v>18.15487438581025</c:v>
                </c:pt>
                <c:pt idx="7">
                  <c:v>3.3193187126164885</c:v>
                </c:pt>
                <c:pt idx="8">
                  <c:v>17.61524623662108</c:v>
                </c:pt>
                <c:pt idx="9">
                  <c:v>8.39648994934676</c:v>
                </c:pt>
                <c:pt idx="10">
                  <c:v>14.344276211636139</c:v>
                </c:pt>
                <c:pt idx="11">
                  <c:v>5.6581118468539</c:v>
                </c:pt>
                <c:pt idx="12">
                  <c:v>5.239072684456172</c:v>
                </c:pt>
                <c:pt idx="13">
                  <c:v>2.122777337784283</c:v>
                </c:pt>
                <c:pt idx="14">
                  <c:v>1.160630720071991</c:v>
                </c:pt>
                <c:pt idx="15">
                  <c:v>6.283616426155328</c:v>
                </c:pt>
                <c:pt idx="16">
                  <c:v>3.4248736536200037</c:v>
                </c:pt>
                <c:pt idx="17">
                  <c:v>4.019602934571418</c:v>
                </c:pt>
                <c:pt idx="18">
                  <c:v>2.271598056280571</c:v>
                </c:pt>
                <c:pt idx="19">
                  <c:v>1.518189394670042</c:v>
                </c:pt>
                <c:pt idx="20">
                  <c:v>1.014511743718542</c:v>
                </c:pt>
                <c:pt idx="21">
                  <c:v>0.45257000728119756</c:v>
                </c:pt>
                <c:pt idx="22">
                  <c:v>0.32426570866595517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Possède chien uniquement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72A32E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Sheet1!$A$2:$A$24</c:f>
              <c:strCache>
                <c:ptCount val="23"/>
                <c:pt idx="0">
                  <c:v>Purina (Purina One)</c:v>
                </c:pt>
                <c:pt idx="1">
                  <c:v>Royal Canin</c:v>
                </c:pt>
                <c:pt idx="2">
                  <c:v>Whiskas</c:v>
                </c:pt>
                <c:pt idx="3">
                  <c:v>Friskies</c:v>
                </c:pt>
                <c:pt idx="4">
                  <c:v>Felix</c:v>
                </c:pt>
                <c:pt idx="5">
                  <c:v>Hill's</c:v>
                </c:pt>
                <c:pt idx="6">
                  <c:v>Ultima</c:v>
                </c:pt>
                <c:pt idx="7">
                  <c:v>Pedigree</c:v>
                </c:pt>
                <c:pt idx="8">
                  <c:v>Sheba</c:v>
                </c:pt>
                <c:pt idx="9">
                  <c:v>Pro Plan</c:v>
                </c:pt>
                <c:pt idx="10">
                  <c:v>Gourmet</c:v>
                </c:pt>
                <c:pt idx="11">
                  <c:v>Edgar &amp; Cooper</c:v>
                </c:pt>
                <c:pt idx="12">
                  <c:v>Ultra Premium</c:v>
                </c:pt>
                <c:pt idx="13">
                  <c:v>Frolic</c:v>
                </c:pt>
                <c:pt idx="14">
                  <c:v>Fido</c:v>
                </c:pt>
                <c:pt idx="15">
                  <c:v>Caats</c:v>
                </c:pt>
                <c:pt idx="16">
                  <c:v>Brekkies</c:v>
                </c:pt>
                <c:pt idx="17">
                  <c:v>Virbac</c:v>
                </c:pt>
                <c:pt idx="18">
                  <c:v>Canaillou</c:v>
                </c:pt>
                <c:pt idx="19">
                  <c:v>Canigou</c:v>
                </c:pt>
                <c:pt idx="20">
                  <c:v>Cesar</c:v>
                </c:pt>
                <c:pt idx="21">
                  <c:v>Eukanuba</c:v>
                </c:pt>
                <c:pt idx="22">
                  <c:v>Ownat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27.29904990815697</c:v>
                </c:pt>
                <c:pt idx="1">
                  <c:v>49.30184610387077</c:v>
                </c:pt>
                <c:pt idx="2">
                  <c:v>7.922419302651868</c:v>
                </c:pt>
                <c:pt idx="3">
                  <c:v>20.72148055775285</c:v>
                </c:pt>
                <c:pt idx="4">
                  <c:v>4.298941959268808</c:v>
                </c:pt>
                <c:pt idx="5">
                  <c:v>16.91044656881861</c:v>
                </c:pt>
                <c:pt idx="6">
                  <c:v>14.86618346181945</c:v>
                </c:pt>
                <c:pt idx="7">
                  <c:v>26.60393031205056</c:v>
                </c:pt>
                <c:pt idx="8">
                  <c:v>2.737400092570516</c:v>
                </c:pt>
                <c:pt idx="9">
                  <c:v>15.336457967138761</c:v>
                </c:pt>
                <c:pt idx="10">
                  <c:v>0.43900451669603097</c:v>
                </c:pt>
                <c:pt idx="11">
                  <c:v>7.368023999938292</c:v>
                </c:pt>
                <c:pt idx="12">
                  <c:v>6.556923165105634</c:v>
                </c:pt>
                <c:pt idx="13">
                  <c:v>11.60318714933847</c:v>
                </c:pt>
                <c:pt idx="14">
                  <c:v>12.57681756795431</c:v>
                </c:pt>
                <c:pt idx="15">
                  <c:v>0.9157732021991433</c:v>
                </c:pt>
                <c:pt idx="16">
                  <c:v>3.9364318669516134</c:v>
                </c:pt>
                <c:pt idx="17">
                  <c:v>1.7334394316674742</c:v>
                </c:pt>
                <c:pt idx="18">
                  <c:v>2.409277598599779</c:v>
                </c:pt>
                <c:pt idx="19">
                  <c:v>5.838233582561734</c:v>
                </c:pt>
                <c:pt idx="20">
                  <c:v>5.934965400349793</c:v>
                </c:pt>
                <c:pt idx="21">
                  <c:v>3.906841791548468</c:v>
                </c:pt>
                <c:pt idx="22">
                  <c:v>1.423132780865134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Possède chien et chat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A8229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Sheet1!$A$2:$A$24</c:f>
              <c:strCache>
                <c:ptCount val="23"/>
                <c:pt idx="0">
                  <c:v>Purina (Purina One)</c:v>
                </c:pt>
                <c:pt idx="1">
                  <c:v>Royal Canin</c:v>
                </c:pt>
                <c:pt idx="2">
                  <c:v>Whiskas</c:v>
                </c:pt>
                <c:pt idx="3">
                  <c:v>Friskies</c:v>
                </c:pt>
                <c:pt idx="4">
                  <c:v>Felix</c:v>
                </c:pt>
                <c:pt idx="5">
                  <c:v>Hill's</c:v>
                </c:pt>
                <c:pt idx="6">
                  <c:v>Ultima</c:v>
                </c:pt>
                <c:pt idx="7">
                  <c:v>Pedigree</c:v>
                </c:pt>
                <c:pt idx="8">
                  <c:v>Sheba</c:v>
                </c:pt>
                <c:pt idx="9">
                  <c:v>Pro Plan</c:v>
                </c:pt>
                <c:pt idx="10">
                  <c:v>Gourmet</c:v>
                </c:pt>
                <c:pt idx="11">
                  <c:v>Edgar &amp; Cooper</c:v>
                </c:pt>
                <c:pt idx="12">
                  <c:v>Ultra Premium</c:v>
                </c:pt>
                <c:pt idx="13">
                  <c:v>Frolic</c:v>
                </c:pt>
                <c:pt idx="14">
                  <c:v>Fido</c:v>
                </c:pt>
                <c:pt idx="15">
                  <c:v>Caats</c:v>
                </c:pt>
                <c:pt idx="16">
                  <c:v>Brekkies</c:v>
                </c:pt>
                <c:pt idx="17">
                  <c:v>Virbac</c:v>
                </c:pt>
                <c:pt idx="18">
                  <c:v>Canaillou</c:v>
                </c:pt>
                <c:pt idx="19">
                  <c:v>Canigou</c:v>
                </c:pt>
                <c:pt idx="20">
                  <c:v>Cesar</c:v>
                </c:pt>
                <c:pt idx="21">
                  <c:v>Eukanuba</c:v>
                </c:pt>
                <c:pt idx="22">
                  <c:v>Ownat</c:v>
                </c:pt>
              </c:strCache>
            </c:strRef>
          </c:cat>
          <c:val>
            <c:numRef>
              <c:f>Sheet1!$E$2:$E$24</c:f>
              <c:numCache>
                <c:formatCode>General</c:formatCode>
                <c:ptCount val="23"/>
                <c:pt idx="0">
                  <c:v>44.02780040520778</c:v>
                </c:pt>
                <c:pt idx="1">
                  <c:v>34.536784106083914</c:v>
                </c:pt>
                <c:pt idx="2">
                  <c:v>29.97203130352623</c:v>
                </c:pt>
                <c:pt idx="3">
                  <c:v>29.389033725861502</c:v>
                </c:pt>
                <c:pt idx="4">
                  <c:v>19.722074789791318</c:v>
                </c:pt>
                <c:pt idx="5">
                  <c:v>22.86339277795366</c:v>
                </c:pt>
                <c:pt idx="6">
                  <c:v>16.844477164360068</c:v>
                </c:pt>
                <c:pt idx="7">
                  <c:v>18.06321801507674</c:v>
                </c:pt>
                <c:pt idx="8">
                  <c:v>12.287812089325719</c:v>
                </c:pt>
                <c:pt idx="9">
                  <c:v>15.85254557553912</c:v>
                </c:pt>
                <c:pt idx="10">
                  <c:v>6.183015438886506</c:v>
                </c:pt>
                <c:pt idx="11">
                  <c:v>10.579845863452721</c:v>
                </c:pt>
                <c:pt idx="12">
                  <c:v>10.06915250709461</c:v>
                </c:pt>
                <c:pt idx="13">
                  <c:v>10.599955874136489</c:v>
                </c:pt>
                <c:pt idx="14">
                  <c:v>10.260999189587471</c:v>
                </c:pt>
                <c:pt idx="15">
                  <c:v>1.8257121883765801</c:v>
                </c:pt>
                <c:pt idx="16">
                  <c:v>3.4718394460415603</c:v>
                </c:pt>
                <c:pt idx="17">
                  <c:v>2.6732264616693118</c:v>
                </c:pt>
                <c:pt idx="18">
                  <c:v>4.810995708274209</c:v>
                </c:pt>
                <c:pt idx="19">
                  <c:v>2.37416618518993</c:v>
                </c:pt>
                <c:pt idx="20">
                  <c:v>2.664790793697559</c:v>
                </c:pt>
                <c:pt idx="21">
                  <c:v>4.766159575719936</c:v>
                </c:pt>
                <c:pt idx="22">
                  <c:v>2.509360359767535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ayout>
        <c:manualLayout>
          <c:xMode val="edge"/>
          <c:yMode val="edge"/>
          <c:x val="0.05"/>
          <c:y val="0.946"/>
          <c:w val="0.9"/>
          <c:h val="0.048"/>
        </c:manualLayout>
      </c:layout>
      <c:legendPos val="b"/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Dans quelle mesure connaissez-vous les marques suivantes ?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"/>
          <c:y val="0.048"/>
          <c:w val="1.0"/>
          <c:h val="0.8699999999999999"/>
        </c:manualLayout>
      </c:layout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Très bien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Japhy</c:v>
                </c:pt>
                <c:pt idx="1">
                  <c:v>Orijen</c:v>
                </c:pt>
                <c:pt idx="2">
                  <c:v>Virbac</c:v>
                </c:pt>
                <c:pt idx="3">
                  <c:v>Edgard &amp; Cooper</c:v>
                </c:pt>
                <c:pt idx="4">
                  <c:v>Ultra Premium Direct</c:v>
                </c:pt>
                <c:pt idx="5">
                  <c:v>MDD</c:v>
                </c:pt>
                <c:pt idx="6">
                  <c:v>Hill’s</c:v>
                </c:pt>
                <c:pt idx="7">
                  <c:v>Purina Pro Plan</c:v>
                </c:pt>
                <c:pt idx="8">
                  <c:v>Ultima</c:v>
                </c:pt>
                <c:pt idx="9">
                  <c:v>Royal Canin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2.67682035663275</c:v>
                </c:pt>
                <c:pt idx="1">
                  <c:v>3.5107416831371507</c:v>
                </c:pt>
                <c:pt idx="2">
                  <c:v>6.395931648276078</c:v>
                </c:pt>
                <c:pt idx="3">
                  <c:v>7.90556598723497</c:v>
                </c:pt>
                <c:pt idx="4">
                  <c:v>11.68059989867299</c:v>
                </c:pt>
                <c:pt idx="5">
                  <c:v>13.082782981946787</c:v>
                </c:pt>
                <c:pt idx="6">
                  <c:v>15.119198369649933</c:v>
                </c:pt>
                <c:pt idx="7">
                  <c:v>21.89205805734444</c:v>
                </c:pt>
                <c:pt idx="8">
                  <c:v>23.332934143018637</c:v>
                </c:pt>
                <c:pt idx="9">
                  <c:v>28.863160923354787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Assez bien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Japhy</c:v>
                </c:pt>
                <c:pt idx="1">
                  <c:v>Orijen</c:v>
                </c:pt>
                <c:pt idx="2">
                  <c:v>Virbac</c:v>
                </c:pt>
                <c:pt idx="3">
                  <c:v>Edgard &amp; Cooper</c:v>
                </c:pt>
                <c:pt idx="4">
                  <c:v>Ultra Premium Direct</c:v>
                </c:pt>
                <c:pt idx="5">
                  <c:v>MDD</c:v>
                </c:pt>
                <c:pt idx="6">
                  <c:v>Hill’s</c:v>
                </c:pt>
                <c:pt idx="7">
                  <c:v>Purina Pro Plan</c:v>
                </c:pt>
                <c:pt idx="8">
                  <c:v>Ultima</c:v>
                </c:pt>
                <c:pt idx="9">
                  <c:v>Royal Canin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4.255946286460581</c:v>
                </c:pt>
                <c:pt idx="1">
                  <c:v>3.5074234081983846</c:v>
                </c:pt>
                <c:pt idx="2">
                  <c:v>6.923321309468325</c:v>
                </c:pt>
                <c:pt idx="3">
                  <c:v>15.7634287107594</c:v>
                </c:pt>
                <c:pt idx="4">
                  <c:v>19.793769535316226</c:v>
                </c:pt>
                <c:pt idx="5">
                  <c:v>29.295280953653002</c:v>
                </c:pt>
                <c:pt idx="6">
                  <c:v>17.57264481484254</c:v>
                </c:pt>
                <c:pt idx="7">
                  <c:v>32.07402489755205</c:v>
                </c:pt>
                <c:pt idx="8">
                  <c:v>37.328737268205984</c:v>
                </c:pt>
                <c:pt idx="9">
                  <c:v>34.78912509249049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Juste de nom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Japhy</c:v>
                </c:pt>
                <c:pt idx="1">
                  <c:v>Orijen</c:v>
                </c:pt>
                <c:pt idx="2">
                  <c:v>Virbac</c:v>
                </c:pt>
                <c:pt idx="3">
                  <c:v>Edgard &amp; Cooper</c:v>
                </c:pt>
                <c:pt idx="4">
                  <c:v>Ultra Premium Direct</c:v>
                </c:pt>
                <c:pt idx="5">
                  <c:v>MDD</c:v>
                </c:pt>
                <c:pt idx="6">
                  <c:v>Hill’s</c:v>
                </c:pt>
                <c:pt idx="7">
                  <c:v>Purina Pro Plan</c:v>
                </c:pt>
                <c:pt idx="8">
                  <c:v>Ultima</c:v>
                </c:pt>
                <c:pt idx="9">
                  <c:v>Royal Canin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13.813357085888525</c:v>
                </c:pt>
                <c:pt idx="1">
                  <c:v>11.041973431827273</c:v>
                </c:pt>
                <c:pt idx="2">
                  <c:v>17.28126098804387</c:v>
                </c:pt>
                <c:pt idx="3">
                  <c:v>41.78651392206752</c:v>
                </c:pt>
                <c:pt idx="4">
                  <c:v>36.03687597264232</c:v>
                </c:pt>
                <c:pt idx="5">
                  <c:v>36.731540447635794</c:v>
                </c:pt>
                <c:pt idx="6">
                  <c:v>36.014765528410585</c:v>
                </c:pt>
                <c:pt idx="7">
                  <c:v>38.52912616619302</c:v>
                </c:pt>
                <c:pt idx="8">
                  <c:v>34.08049482817045</c:v>
                </c:pt>
                <c:pt idx="9">
                  <c:v>32.537829936367594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Pas du tout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Japhy</c:v>
                </c:pt>
                <c:pt idx="1">
                  <c:v>Orijen</c:v>
                </c:pt>
                <c:pt idx="2">
                  <c:v>Virbac</c:v>
                </c:pt>
                <c:pt idx="3">
                  <c:v>Edgard &amp; Cooper</c:v>
                </c:pt>
                <c:pt idx="4">
                  <c:v>Ultra Premium Direct</c:v>
                </c:pt>
                <c:pt idx="5">
                  <c:v>MDD</c:v>
                </c:pt>
                <c:pt idx="6">
                  <c:v>Hill’s</c:v>
                </c:pt>
                <c:pt idx="7">
                  <c:v>Purina Pro Plan</c:v>
                </c:pt>
                <c:pt idx="8">
                  <c:v>Ultima</c:v>
                </c:pt>
                <c:pt idx="9">
                  <c:v>Royal Canin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79.25387627101813</c:v>
                </c:pt>
                <c:pt idx="1">
                  <c:v>81.9398614768372</c:v>
                </c:pt>
                <c:pt idx="2">
                  <c:v>69.39948605421172</c:v>
                </c:pt>
                <c:pt idx="3">
                  <c:v>34.54449137993811</c:v>
                </c:pt>
                <c:pt idx="4">
                  <c:v>32.48875459336846</c:v>
                </c:pt>
                <c:pt idx="5">
                  <c:v>20.890395616764422</c:v>
                </c:pt>
                <c:pt idx="6">
                  <c:v>31.293391287096938</c:v>
                </c:pt>
                <c:pt idx="7">
                  <c:v>7.5047908789104945</c:v>
                </c:pt>
                <c:pt idx="8">
                  <c:v>5.257833760604931</c:v>
                </c:pt>
                <c:pt idx="9">
                  <c:v>3.809884047787139</c:v>
                </c:pt>
              </c:numCache>
            </c:numRef>
          </c:val>
        </c:ser>
        <c:gapWidth val="182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ayout>
        <c:manualLayout>
          <c:xMode val="edge"/>
          <c:yMode val="edge"/>
          <c:x val="0.05"/>
          <c:y val="0.946"/>
          <c:w val="0.9"/>
          <c:h val="0.048"/>
        </c:manualLayout>
      </c:layout>
      <c:legendPos val="b"/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Quelle marque d’aliments votre/vos animal(ux) consomme(nt)-t-il ?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"/>
          <c:y val="0.048"/>
          <c:w val="1.0"/>
          <c:h val="0.7129999999999999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18-70 ans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Ultima</c:v>
                </c:pt>
                <c:pt idx="1">
                  <c:v>Purina Pro Plan</c:v>
                </c:pt>
                <c:pt idx="2">
                  <c:v>Royal Canin</c:v>
                </c:pt>
                <c:pt idx="3">
                  <c:v>Marques de distributeurs(ex Carrefour, Maxizoo)</c:v>
                </c:pt>
                <c:pt idx="4">
                  <c:v>Hill’s</c:v>
                </c:pt>
                <c:pt idx="5">
                  <c:v>Ultra Premium Direct</c:v>
                </c:pt>
                <c:pt idx="6">
                  <c:v>Edgard &amp; Cooper</c:v>
                </c:pt>
                <c:pt idx="7">
                  <c:v>Virbac</c:v>
                </c:pt>
                <c:pt idx="8">
                  <c:v>Orijen</c:v>
                </c:pt>
                <c:pt idx="9">
                  <c:v>Japhy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18.795372284201417</c:v>
                </c:pt>
                <c:pt idx="1">
                  <c:v>16.67150480815401</c:v>
                </c:pt>
                <c:pt idx="2">
                  <c:v>15.929716275903488</c:v>
                </c:pt>
                <c:pt idx="3">
                  <c:v>14.25076662195686</c:v>
                </c:pt>
                <c:pt idx="4">
                  <c:v>9.000134857857155</c:v>
                </c:pt>
                <c:pt idx="5">
                  <c:v>5.8403223095502135</c:v>
                </c:pt>
                <c:pt idx="6">
                  <c:v>3.7545250821355505</c:v>
                </c:pt>
                <c:pt idx="7">
                  <c:v>1.8579570885800687</c:v>
                </c:pt>
                <c:pt idx="8">
                  <c:v>0.8265780873194344</c:v>
                </c:pt>
                <c:pt idx="9">
                  <c:v>0.5303536435392655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Possède chat uniquement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184BC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Ultima</c:v>
                </c:pt>
                <c:pt idx="1">
                  <c:v>Purina Pro Plan</c:v>
                </c:pt>
                <c:pt idx="2">
                  <c:v>Royal Canin</c:v>
                </c:pt>
                <c:pt idx="3">
                  <c:v>Marques de distributeurs(ex Carrefour, Maxizoo)</c:v>
                </c:pt>
                <c:pt idx="4">
                  <c:v>Hill’s</c:v>
                </c:pt>
                <c:pt idx="5">
                  <c:v>Ultra Premium Direct</c:v>
                </c:pt>
                <c:pt idx="6">
                  <c:v>Edgard &amp; Cooper</c:v>
                </c:pt>
                <c:pt idx="7">
                  <c:v>Virbac</c:v>
                </c:pt>
                <c:pt idx="8">
                  <c:v>Orijen</c:v>
                </c:pt>
                <c:pt idx="9">
                  <c:v>Japhy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19.09688080088021</c:v>
                </c:pt>
                <c:pt idx="1">
                  <c:v>17.91407050940298</c:v>
                </c:pt>
                <c:pt idx="2">
                  <c:v>12.080597488501407</c:v>
                </c:pt>
                <c:pt idx="3">
                  <c:v>13.547951590684562</c:v>
                </c:pt>
                <c:pt idx="4">
                  <c:v>7.031832674776092</c:v>
                </c:pt>
                <c:pt idx="5">
                  <c:v>4.178149544912342</c:v>
                </c:pt>
                <c:pt idx="6">
                  <c:v>1.4863795126341814</c:v>
                </c:pt>
                <c:pt idx="7">
                  <c:v>2.1051603782904595</c:v>
                </c:pt>
                <c:pt idx="8">
                  <c:v>0.2678889241114443</c:v>
                </c:pt>
                <c:pt idx="9">
                  <c:v>0.22520177993259116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Possède chien uniquement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72A32E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Ultima</c:v>
                </c:pt>
                <c:pt idx="1">
                  <c:v>Purina Pro Plan</c:v>
                </c:pt>
                <c:pt idx="2">
                  <c:v>Royal Canin</c:v>
                </c:pt>
                <c:pt idx="3">
                  <c:v>Marques de distributeurs(ex Carrefour, Maxizoo)</c:v>
                </c:pt>
                <c:pt idx="4">
                  <c:v>Hill’s</c:v>
                </c:pt>
                <c:pt idx="5">
                  <c:v>Ultra Premium Direct</c:v>
                </c:pt>
                <c:pt idx="6">
                  <c:v>Edgard &amp; Cooper</c:v>
                </c:pt>
                <c:pt idx="7">
                  <c:v>Virbac</c:v>
                </c:pt>
                <c:pt idx="8">
                  <c:v>Orijen</c:v>
                </c:pt>
                <c:pt idx="9">
                  <c:v>Japhy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13.627732858291317</c:v>
                </c:pt>
                <c:pt idx="1">
                  <c:v>9.43175816698155</c:v>
                </c:pt>
                <c:pt idx="2">
                  <c:v>22.156428286167145</c:v>
                </c:pt>
                <c:pt idx="3">
                  <c:v>17.31791054981577</c:v>
                </c:pt>
                <c:pt idx="4">
                  <c:v>5.4453710407477525</c:v>
                </c:pt>
                <c:pt idx="5">
                  <c:v>2.7565730846057</c:v>
                </c:pt>
                <c:pt idx="6">
                  <c:v>2.937440182353917</c:v>
                </c:pt>
                <c:pt idx="7">
                  <c:v>0.7887738315238492</c:v>
                </c:pt>
                <c:pt idx="8">
                  <c:v>0.6092492391747577</c:v>
                </c:pt>
                <c:pt idx="9">
                  <c:v>1.7012689748230159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Possède chien et chat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A8229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Ultima</c:v>
                </c:pt>
                <c:pt idx="1">
                  <c:v>Purina Pro Plan</c:v>
                </c:pt>
                <c:pt idx="2">
                  <c:v>Royal Canin</c:v>
                </c:pt>
                <c:pt idx="3">
                  <c:v>Marques de distributeurs(ex Carrefour, Maxizoo)</c:v>
                </c:pt>
                <c:pt idx="4">
                  <c:v>Hill’s</c:v>
                </c:pt>
                <c:pt idx="5">
                  <c:v>Ultra Premium Direct</c:v>
                </c:pt>
                <c:pt idx="6">
                  <c:v>Edgard &amp; Cooper</c:v>
                </c:pt>
                <c:pt idx="7">
                  <c:v>Virbac</c:v>
                </c:pt>
                <c:pt idx="8">
                  <c:v>Orijen</c:v>
                </c:pt>
                <c:pt idx="9">
                  <c:v>Japhy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23.251004955185625</c:v>
                </c:pt>
                <c:pt idx="1">
                  <c:v>21.254165245103348</c:v>
                </c:pt>
                <c:pt idx="2">
                  <c:v>17.61443787729693</c:v>
                </c:pt>
                <c:pt idx="3">
                  <c:v>12.666244971053178</c:v>
                </c:pt>
                <c:pt idx="4">
                  <c:v>16.46762987881196</c:v>
                </c:pt>
                <c:pt idx="5">
                  <c:v>12.226642633101822</c:v>
                </c:pt>
                <c:pt idx="6">
                  <c:v>9.145058576679144</c:v>
                </c:pt>
                <c:pt idx="7">
                  <c:v>2.405843019605632</c:v>
                </c:pt>
                <c:pt idx="8">
                  <c:v>2.170121076115718</c:v>
                </c:pt>
                <c:pt idx="9">
                  <c:v>0.0</c:v>
                </c:pt>
              </c:numCache>
            </c:numRef>
          </c:val>
        </c:ser>
        <c:gapWidth val="18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ayout>
        <c:manualLayout>
          <c:xMode val="edge"/>
          <c:yMode val="edge"/>
          <c:x val="0.05"/>
          <c:y val="0.946"/>
          <c:w val="0.9"/>
          <c:h val="0.048"/>
        </c:manualLayout>
      </c:layout>
      <c:legendPos val="b"/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Si vous deviez acheter de la nourriture pour votre animal demain, quelles marques envisageriez-vous sérieusement d'acheter ?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"/>
          <c:y val="0.048"/>
          <c:w val="1.0"/>
          <c:h val="0.7129999999999999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18-70 ans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Purina Pro Plan</c:v>
                </c:pt>
                <c:pt idx="1">
                  <c:v>Ultima</c:v>
                </c:pt>
                <c:pt idx="2">
                  <c:v>Royal Canin</c:v>
                </c:pt>
                <c:pt idx="3">
                  <c:v>Hill’s</c:v>
                </c:pt>
                <c:pt idx="4">
                  <c:v>Edgard &amp; Cooper</c:v>
                </c:pt>
                <c:pt idx="5">
                  <c:v>Ultra Premium Direct</c:v>
                </c:pt>
                <c:pt idx="6">
                  <c:v>Marques de distributeurs(ex: Carrefour, Maxizoo)</c:v>
                </c:pt>
                <c:pt idx="7">
                  <c:v>Aucune de ces marques</c:v>
                </c:pt>
                <c:pt idx="8">
                  <c:v>Virbac</c:v>
                </c:pt>
                <c:pt idx="9">
                  <c:v>Orijen</c:v>
                </c:pt>
                <c:pt idx="10">
                  <c:v>Japhy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32.526659207971015</c:v>
                </c:pt>
                <c:pt idx="1">
                  <c:v>31.474029288743978</c:v>
                </c:pt>
                <c:pt idx="2">
                  <c:v>27.504166940701445</c:v>
                </c:pt>
                <c:pt idx="3">
                  <c:v>23.483166220300973</c:v>
                </c:pt>
                <c:pt idx="4">
                  <c:v>16.157631754788518</c:v>
                </c:pt>
                <c:pt idx="5">
                  <c:v>15.81480974224009</c:v>
                </c:pt>
                <c:pt idx="6">
                  <c:v>15.430091254874196</c:v>
                </c:pt>
                <c:pt idx="7">
                  <c:v>10.646239465364957</c:v>
                </c:pt>
                <c:pt idx="8">
                  <c:v>6.726722979718143</c:v>
                </c:pt>
                <c:pt idx="9">
                  <c:v>4.042226853120673</c:v>
                </c:pt>
                <c:pt idx="10">
                  <c:v>2.859324616210963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Possède chat uniquement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184BC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Purina Pro Plan</c:v>
                </c:pt>
                <c:pt idx="1">
                  <c:v>Ultima</c:v>
                </c:pt>
                <c:pt idx="2">
                  <c:v>Royal Canin</c:v>
                </c:pt>
                <c:pt idx="3">
                  <c:v>Hill’s</c:v>
                </c:pt>
                <c:pt idx="4">
                  <c:v>Edgard &amp; Cooper</c:v>
                </c:pt>
                <c:pt idx="5">
                  <c:v>Ultra Premium Direct</c:v>
                </c:pt>
                <c:pt idx="6">
                  <c:v>Marques de distributeurs(ex: Carrefour, Maxizoo)</c:v>
                </c:pt>
                <c:pt idx="7">
                  <c:v>Aucune de ces marques</c:v>
                </c:pt>
                <c:pt idx="8">
                  <c:v>Virbac</c:v>
                </c:pt>
                <c:pt idx="9">
                  <c:v>Orijen</c:v>
                </c:pt>
                <c:pt idx="10">
                  <c:v>Japhy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35.633807062198755</c:v>
                </c:pt>
                <c:pt idx="1">
                  <c:v>32.67821164263355</c:v>
                </c:pt>
                <c:pt idx="2">
                  <c:v>22.296540847175287</c:v>
                </c:pt>
                <c:pt idx="3">
                  <c:v>23.803029038452586</c:v>
                </c:pt>
                <c:pt idx="4">
                  <c:v>14.81529756476529</c:v>
                </c:pt>
                <c:pt idx="5">
                  <c:v>15.303181534567722</c:v>
                </c:pt>
                <c:pt idx="6">
                  <c:v>16.331687182677275</c:v>
                </c:pt>
                <c:pt idx="7">
                  <c:v>9.955010234212203</c:v>
                </c:pt>
                <c:pt idx="8">
                  <c:v>7.262117445271161</c:v>
                </c:pt>
                <c:pt idx="9">
                  <c:v>2.5681729426780135</c:v>
                </c:pt>
                <c:pt idx="10">
                  <c:v>1.640284576331784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Possède chien uniquement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72A32E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Purina Pro Plan</c:v>
                </c:pt>
                <c:pt idx="1">
                  <c:v>Ultima</c:v>
                </c:pt>
                <c:pt idx="2">
                  <c:v>Royal Canin</c:v>
                </c:pt>
                <c:pt idx="3">
                  <c:v>Hill’s</c:v>
                </c:pt>
                <c:pt idx="4">
                  <c:v>Edgard &amp; Cooper</c:v>
                </c:pt>
                <c:pt idx="5">
                  <c:v>Ultra Premium Direct</c:v>
                </c:pt>
                <c:pt idx="6">
                  <c:v>Marques de distributeurs(ex: Carrefour, Maxizoo)</c:v>
                </c:pt>
                <c:pt idx="7">
                  <c:v>Aucune de ces marques</c:v>
                </c:pt>
                <c:pt idx="8">
                  <c:v>Virbac</c:v>
                </c:pt>
                <c:pt idx="9">
                  <c:v>Orijen</c:v>
                </c:pt>
                <c:pt idx="10">
                  <c:v>Japhy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21.928830269260345</c:v>
                </c:pt>
                <c:pt idx="1">
                  <c:v>25.616249029298256</c:v>
                </c:pt>
                <c:pt idx="2">
                  <c:v>30.39876348595977</c:v>
                </c:pt>
                <c:pt idx="3">
                  <c:v>13.208160451804298</c:v>
                </c:pt>
                <c:pt idx="4">
                  <c:v>14.309112579521315</c:v>
                </c:pt>
                <c:pt idx="5">
                  <c:v>13.286413998012323</c:v>
                </c:pt>
                <c:pt idx="6">
                  <c:v>17.570910519768265</c:v>
                </c:pt>
                <c:pt idx="7">
                  <c:v>13.953730837902834</c:v>
                </c:pt>
                <c:pt idx="8">
                  <c:v>2.968298881061047</c:v>
                </c:pt>
                <c:pt idx="9">
                  <c:v>3.863728295942115</c:v>
                </c:pt>
                <c:pt idx="10">
                  <c:v>3.8421810220371806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Possède chien et chat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A8229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Purina Pro Plan</c:v>
                </c:pt>
                <c:pt idx="1">
                  <c:v>Ultima</c:v>
                </c:pt>
                <c:pt idx="2">
                  <c:v>Royal Canin</c:v>
                </c:pt>
                <c:pt idx="3">
                  <c:v>Hill’s</c:v>
                </c:pt>
                <c:pt idx="4">
                  <c:v>Edgard &amp; Cooper</c:v>
                </c:pt>
                <c:pt idx="5">
                  <c:v>Ultra Premium Direct</c:v>
                </c:pt>
                <c:pt idx="6">
                  <c:v>Marques de distributeurs(ex: Carrefour, Maxizoo)</c:v>
                </c:pt>
                <c:pt idx="7">
                  <c:v>Aucune de ces marques</c:v>
                </c:pt>
                <c:pt idx="8">
                  <c:v>Virbac</c:v>
                </c:pt>
                <c:pt idx="9">
                  <c:v>Orijen</c:v>
                </c:pt>
                <c:pt idx="10">
                  <c:v>Japhy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36.628222151841065</c:v>
                </c:pt>
                <c:pt idx="1">
                  <c:v>34.779644573404866</c:v>
                </c:pt>
                <c:pt idx="2">
                  <c:v>35.20421425245203</c:v>
                </c:pt>
                <c:pt idx="3">
                  <c:v>32.90830582065458</c:v>
                </c:pt>
                <c:pt idx="4">
                  <c:v>20.685892329310438</c:v>
                </c:pt>
                <c:pt idx="5">
                  <c:v>19.328617063718408</c:v>
                </c:pt>
                <c:pt idx="6">
                  <c:v>11.507122806358952</c:v>
                </c:pt>
                <c:pt idx="7">
                  <c:v>8.802666427583103</c:v>
                </c:pt>
                <c:pt idx="8">
                  <c:v>9.32766567430126</c:v>
                </c:pt>
                <c:pt idx="9">
                  <c:v>7.199933497087482</c:v>
                </c:pt>
                <c:pt idx="10">
                  <c:v>4.362561657895642</c:v>
                </c:pt>
              </c:numCache>
            </c:numRef>
          </c:val>
        </c:ser>
        <c:gapWidth val="18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ayout>
        <c:manualLayout>
          <c:xMode val="edge"/>
          <c:yMode val="edge"/>
          <c:x val="0.05"/>
          <c:y val="0.946"/>
          <c:w val="0.9"/>
          <c:h val="0.048"/>
        </c:manualLayout>
      </c:layout>
      <c:legendPos val="b"/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Pour quelles raisons n'envisageriez-vous pas d'acheter la marque Hill’s ? (3 réponses maximum)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"/>
          <c:y val="0.048"/>
          <c:w val="1.0"/>
          <c:h val="0.9279999999999999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Oui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Je pense que c'est une marque réservée uniquement aux animaux malades</c:v>
                </c:pt>
                <c:pt idx="1">
                  <c:v>Je n’ai pas vu assez d'avis positif en ligne</c:v>
                </c:pt>
                <c:pt idx="2">
                  <c:v>Je ne suis pas convaincu par l'efficacité ou les bénéfices santé</c:v>
                </c:pt>
                <c:pt idx="3">
                  <c:v>Autre</c:v>
                </c:pt>
                <c:pt idx="4">
                  <c:v>Je ne suis pas convaincu par la qualité de la composition (ingrédients)</c:v>
                </c:pt>
                <c:pt idx="5">
                  <c:v>Ce n'est pas une marque recommandée par mon vétérinaire</c:v>
                </c:pt>
                <c:pt idx="6">
                  <c:v>Mon animal a déjà testé cette marque et n’a pas aimé (ou eu une mauvaise expérience)</c:v>
                </c:pt>
                <c:pt idx="7">
                  <c:v>C'est une marque difficile à trouver (pas disponible dans mon supermarché ou lieu d’achat habituel)</c:v>
                </c:pt>
                <c:pt idx="8">
                  <c:v>Je ne connais pas assez la marque ou ses produits</c:v>
                </c:pt>
                <c:pt idx="9">
                  <c:v>Je trouve que le prix est trop élevé par rapport à mon budget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2.3557020713188193</c:v>
                </c:pt>
                <c:pt idx="1">
                  <c:v>2.624378158519556</c:v>
                </c:pt>
                <c:pt idx="2">
                  <c:v>6.077852007570066</c:v>
                </c:pt>
                <c:pt idx="3">
                  <c:v>6.091314049224787</c:v>
                </c:pt>
                <c:pt idx="4">
                  <c:v>8.597213886775968</c:v>
                </c:pt>
                <c:pt idx="5">
                  <c:v>8.963535163972033</c:v>
                </c:pt>
                <c:pt idx="6">
                  <c:v>13.48993527477409</c:v>
                </c:pt>
                <c:pt idx="7">
                  <c:v>16.61766601187839</c:v>
                </c:pt>
                <c:pt idx="8">
                  <c:v>35.7225308787182</c:v>
                </c:pt>
                <c:pt idx="9">
                  <c:v>39.89344119225079</c:v>
                </c:pt>
              </c:numCache>
            </c:numRef>
          </c:val>
        </c:ser>
        <c:gapWidth val="18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Ensemble 18-70 ans</a:t>
            </a:r>
          </a:p>
        </c:rich>
      </c:tx>
      <c:overlay val="0"/>
    </c:title>
    <c:autoTitleDeleted val="0"/>
    <c:plotArea>
      <c:layout>
        <c:manualLayout>
          <c:xMode val="edge"/>
          <c:yMode val="edge"/>
          <c:x val="0.0"/>
          <c:y val="0.048"/>
          <c:w val="1.0"/>
          <c:h val="0.9279999999999999"/>
        </c:manualLayout>
      </c:layout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Opinion_Hills: Quelle opinion avez-vous de la marque Hill’s ?</c:v>
                </c:pt>
              </c:strCache>
            </c:strRef>
          </c:tx>
          <c:dPt>
            <c:idx val="0"/>
            <c:spPr>
              <a:solidFill>
                <a:srgbClr val="C72828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84BC7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72A32E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82298"/>
              </a:solidFill>
              <a:ln>
                <a:solidFill>
                  <a:srgbClr val="FFFFFF"/>
                </a:solidFill>
              </a:ln>
            </c:spPr>
          </c:dPt>
          <c:dLbls>
            <c:numFmt formatCode="0&quot;%&quot;" sourceLinked="0"/>
            <c:txPr>
              <a:bodyPr/>
              <a:lstStyle/>
              <a:p>
                <a:pPr>
                  <a:defRPr sz="800" b="1">
                    <a:solidFill>
                      <a:srgbClr val="404078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Une excellente opinion</c:v>
                </c:pt>
                <c:pt idx="1">
                  <c:v>Une assez bonne opinion</c:v>
                </c:pt>
                <c:pt idx="2">
                  <c:v>Une assez mauvaise opinion</c:v>
                </c:pt>
                <c:pt idx="3">
                  <c:v>Une très mauvaise opinion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26.813262093023084</c:v>
                </c:pt>
                <c:pt idx="1">
                  <c:v>68.1299098419051</c:v>
                </c:pt>
                <c:pt idx="2">
                  <c:v>3.944448269153839</c:v>
                </c:pt>
                <c:pt idx="3">
                  <c:v>1.11237979591799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Possède chat uniquement</a:t>
            </a:r>
          </a:p>
        </c:rich>
      </c:tx>
      <c:overlay val="0"/>
    </c:title>
    <c:autoTitleDeleted val="0"/>
    <c:plotArea>
      <c:layout>
        <c:manualLayout>
          <c:xMode val="edge"/>
          <c:yMode val="edge"/>
          <c:x val="0.0"/>
          <c:y val="0.048"/>
          <c:w val="1.0"/>
          <c:h val="0.9279999999999999"/>
        </c:manualLayout>
      </c:layout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Opinion_Hills: Quelle opinion avez-vous de la marque Hill’s ?</c:v>
                </c:pt>
              </c:strCache>
            </c:strRef>
          </c:tx>
          <c:dPt>
            <c:idx val="0"/>
            <c:spPr>
              <a:solidFill>
                <a:srgbClr val="C72828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84BC7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72A32E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82298"/>
              </a:solidFill>
              <a:ln>
                <a:solidFill>
                  <a:srgbClr val="FFFFFF"/>
                </a:solidFill>
              </a:ln>
            </c:spPr>
          </c:dPt>
          <c:dLbls>
            <c:numFmt formatCode="0&quot;%&quot;" sourceLinked="0"/>
            <c:txPr>
              <a:bodyPr/>
              <a:lstStyle/>
              <a:p>
                <a:pPr>
                  <a:defRPr sz="800" b="1">
                    <a:solidFill>
                      <a:srgbClr val="404078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Une excellente opinion</c:v>
                </c:pt>
                <c:pt idx="1">
                  <c:v>Une assez bonne opinion</c:v>
                </c:pt>
                <c:pt idx="2">
                  <c:v>Une assez mauvaise opinion</c:v>
                </c:pt>
                <c:pt idx="3">
                  <c:v>Une très mauvaise opinion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25.89359287141706</c:v>
                </c:pt>
                <c:pt idx="1">
                  <c:v>69.58004080722905</c:v>
                </c:pt>
                <c:pt idx="2">
                  <c:v>3.999581795906717</c:v>
                </c:pt>
                <c:pt idx="3">
                  <c:v>0.5267845254471794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Possède chien uniquement</a:t>
            </a:r>
          </a:p>
        </c:rich>
      </c:tx>
      <c:overlay val="0"/>
    </c:title>
    <c:autoTitleDeleted val="0"/>
    <c:plotArea>
      <c:layout>
        <c:manualLayout>
          <c:xMode val="edge"/>
          <c:yMode val="edge"/>
          <c:x val="0.0"/>
          <c:y val="0.048"/>
          <c:w val="1.0"/>
          <c:h val="0.9279999999999999"/>
        </c:manualLayout>
      </c:layout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Opinion_Hills: Quelle opinion avez-vous de la marque Hill’s ?</c:v>
                </c:pt>
              </c:strCache>
            </c:strRef>
          </c:tx>
          <c:dPt>
            <c:idx val="0"/>
            <c:spPr>
              <a:solidFill>
                <a:srgbClr val="C72828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84BC7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72A32E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82298"/>
              </a:solidFill>
              <a:ln>
                <a:solidFill>
                  <a:srgbClr val="FFFFFF"/>
                </a:solidFill>
              </a:ln>
            </c:spPr>
          </c:dPt>
          <c:dLbls>
            <c:numFmt formatCode="0&quot;%&quot;" sourceLinked="0"/>
            <c:txPr>
              <a:bodyPr/>
              <a:lstStyle/>
              <a:p>
                <a:pPr>
                  <a:defRPr sz="800" b="1">
                    <a:solidFill>
                      <a:srgbClr val="404078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Une excellente opinion</c:v>
                </c:pt>
                <c:pt idx="1">
                  <c:v>Une assez bonne opinion</c:v>
                </c:pt>
                <c:pt idx="2">
                  <c:v>Une assez mauvaise opinion</c:v>
                </c:pt>
                <c:pt idx="3">
                  <c:v>Une très mauvaise opinion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14.457796290765229</c:v>
                </c:pt>
                <c:pt idx="1">
                  <c:v>77.05614628969583</c:v>
                </c:pt>
                <c:pt idx="2">
                  <c:v>6.182932023413066</c:v>
                </c:pt>
                <c:pt idx="3">
                  <c:v>2.303125396125869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Possède chien et chat</a:t>
            </a:r>
          </a:p>
        </c:rich>
      </c:tx>
      <c:overlay val="0"/>
    </c:title>
    <c:autoTitleDeleted val="0"/>
    <c:plotArea>
      <c:layout>
        <c:manualLayout>
          <c:xMode val="edge"/>
          <c:yMode val="edge"/>
          <c:x val="0.0"/>
          <c:y val="0.048"/>
          <c:w val="1.0"/>
          <c:h val="0.9279999999999999"/>
        </c:manualLayout>
      </c:layout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Opinion_Hills: Quelle opinion avez-vous de la marque Hill’s ?</c:v>
                </c:pt>
              </c:strCache>
            </c:strRef>
          </c:tx>
          <c:dPt>
            <c:idx val="0"/>
            <c:spPr>
              <a:solidFill>
                <a:srgbClr val="C72828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84BC7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72A32E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82298"/>
              </a:solidFill>
              <a:ln>
                <a:solidFill>
                  <a:srgbClr val="FFFFFF"/>
                </a:solidFill>
              </a:ln>
            </c:spPr>
          </c:dPt>
          <c:dLbls>
            <c:numFmt formatCode="0&quot;%&quot;" sourceLinked="0"/>
            <c:txPr>
              <a:bodyPr/>
              <a:lstStyle/>
              <a:p>
                <a:pPr>
                  <a:defRPr sz="800" b="1">
                    <a:solidFill>
                      <a:srgbClr val="404078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Une excellente opinion</c:v>
                </c:pt>
                <c:pt idx="1">
                  <c:v>Une assez bonne opinion</c:v>
                </c:pt>
                <c:pt idx="2">
                  <c:v>Une assez mauvaise opinion</c:v>
                </c:pt>
                <c:pt idx="3">
                  <c:v>Une très mauvaise opinion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38.6383875534795</c:v>
                </c:pt>
                <c:pt idx="1">
                  <c:v>58.239041769827715</c:v>
                </c:pt>
                <c:pt idx="2">
                  <c:v>1.993286526708028</c:v>
                </c:pt>
                <c:pt idx="3">
                  <c:v>1.1292841499847301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Quelle opinion avez-vous de la marque Hill’s ?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"/>
          <c:y val="0.048"/>
          <c:w val="1.0"/>
          <c:h val="0.8699999999999999"/>
        </c:manualLayout>
      </c:layout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Une excellente opinion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Possède chien uniquement</c:v>
                </c:pt>
                <c:pt idx="1">
                  <c:v>Possède chat uniquement</c:v>
                </c:pt>
                <c:pt idx="2">
                  <c:v>Ensemble 18-70 ans</c:v>
                </c:pt>
                <c:pt idx="3">
                  <c:v>Possède chien et chat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14.457796290765229</c:v>
                </c:pt>
                <c:pt idx="1">
                  <c:v>25.893592871417052</c:v>
                </c:pt>
                <c:pt idx="2">
                  <c:v>26.813262093023084</c:v>
                </c:pt>
                <c:pt idx="3">
                  <c:v>38.63838755347951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Une assez bonne opinion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Possède chien uniquement</c:v>
                </c:pt>
                <c:pt idx="1">
                  <c:v>Possède chat uniquement</c:v>
                </c:pt>
                <c:pt idx="2">
                  <c:v>Ensemble 18-70 ans</c:v>
                </c:pt>
                <c:pt idx="3">
                  <c:v>Possède chien et chat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77.05614628969583</c:v>
                </c:pt>
                <c:pt idx="1">
                  <c:v>69.58004080722905</c:v>
                </c:pt>
                <c:pt idx="2">
                  <c:v>68.12990984190509</c:v>
                </c:pt>
                <c:pt idx="3">
                  <c:v>58.23904176982773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Une assez mauvaise opinion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Possède chien uniquement</c:v>
                </c:pt>
                <c:pt idx="1">
                  <c:v>Possède chat uniquement</c:v>
                </c:pt>
                <c:pt idx="2">
                  <c:v>Ensemble 18-70 ans</c:v>
                </c:pt>
                <c:pt idx="3">
                  <c:v>Possède chien et chat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6.182932023413066</c:v>
                </c:pt>
                <c:pt idx="1">
                  <c:v>3.999581795906716</c:v>
                </c:pt>
                <c:pt idx="2">
                  <c:v>3.9444482691538383</c:v>
                </c:pt>
                <c:pt idx="3">
                  <c:v>1.9932865267080286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Une très mauvaise opinion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Possède chien uniquement</c:v>
                </c:pt>
                <c:pt idx="1">
                  <c:v>Possède chat uniquement</c:v>
                </c:pt>
                <c:pt idx="2">
                  <c:v>Ensemble 18-70 ans</c:v>
                </c:pt>
                <c:pt idx="3">
                  <c:v>Possède chien et chat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2.303125396125869</c:v>
                </c:pt>
                <c:pt idx="1">
                  <c:v>0.5267845254471792</c:v>
                </c:pt>
                <c:pt idx="2">
                  <c:v>1.1123797959179897</c:v>
                </c:pt>
                <c:pt idx="3">
                  <c:v>1.1292841499847304</c:v>
                </c:pt>
              </c:numCache>
            </c:numRef>
          </c:val>
        </c:ser>
        <c:gapWidth val="182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ayout>
        <c:manualLayout>
          <c:xMode val="edge"/>
          <c:yMode val="edge"/>
          <c:x val="0.05"/>
          <c:y val="0.946"/>
          <c:w val="0.9"/>
          <c:h val="0.048"/>
        </c:manualLayout>
      </c:layout>
      <c:legendPos val="b"/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C110E-4D96-4970-BC93-128DB3781455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D3E1C-85D9-4086-B36A-8235DDAA81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2418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_title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68D71C-808E-E2D0-7576-3F1F23F10E69}"/>
              </a:ext>
            </a:extLst>
          </p:cNvPr>
          <p:cNvSpPr/>
          <p:nvPr/>
        </p:nvSpPr>
        <p:spPr>
          <a:xfrm>
            <a:off x="33866" y="767216"/>
            <a:ext cx="5198534" cy="5198534"/>
          </a:xfrm>
          <a:prstGeom prst="ellipse">
            <a:avLst/>
          </a:prstGeom>
          <a:gradFill flip="none" rotWithShape="1">
            <a:gsLst>
              <a:gs pos="68000">
                <a:schemeClr val="accent1">
                  <a:alpha val="0"/>
                </a:schemeClr>
              </a:gs>
              <a:gs pos="9000">
                <a:schemeClr val="accen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8D5DA8-3B9F-1982-027D-A88DBE9D6715}"/>
              </a:ext>
            </a:extLst>
          </p:cNvPr>
          <p:cNvSpPr/>
          <p:nvPr/>
        </p:nvSpPr>
        <p:spPr>
          <a:xfrm flipV="1">
            <a:off x="0" y="3063535"/>
            <a:ext cx="3789114" cy="3794465"/>
          </a:xfrm>
          <a:prstGeom prst="rect">
            <a:avLst/>
          </a:prstGeom>
          <a:gradFill flip="none" rotWithShape="1">
            <a:gsLst>
              <a:gs pos="67000">
                <a:schemeClr val="accent2">
                  <a:alpha val="0"/>
                </a:schemeClr>
              </a:gs>
              <a:gs pos="13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B4847A4-4335-046C-84E2-AE2A99B6C7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7188" y="1882775"/>
            <a:ext cx="9555162" cy="44354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6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_graph_ver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359516-6C5A-2D25-3C9F-86911BB902F2}"/>
              </a:ext>
            </a:extLst>
          </p:cNvPr>
          <p:cNvSpPr/>
          <p:nvPr/>
        </p:nvSpPr>
        <p:spPr>
          <a:xfrm flipV="1">
            <a:off x="0" y="-1"/>
            <a:ext cx="12192000" cy="6857999"/>
          </a:xfrm>
          <a:prstGeom prst="rect">
            <a:avLst/>
          </a:prstGeom>
          <a:gradFill flip="none" rotWithShape="1">
            <a:gsLst>
              <a:gs pos="44000">
                <a:schemeClr val="accent2">
                  <a:alpha val="0"/>
                </a:schemeClr>
              </a:gs>
              <a:gs pos="13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199D28-6B0B-66A5-056C-8241B528F204}"/>
              </a:ext>
            </a:extLst>
          </p:cNvPr>
          <p:cNvSpPr/>
          <p:nvPr/>
        </p:nvSpPr>
        <p:spPr>
          <a:xfrm rot="10800000" flipV="1">
            <a:off x="9912350" y="0"/>
            <a:ext cx="2275718" cy="2278932"/>
          </a:xfrm>
          <a:prstGeom prst="rect">
            <a:avLst/>
          </a:prstGeom>
          <a:gradFill flip="none" rotWithShape="1">
            <a:gsLst>
              <a:gs pos="67000">
                <a:schemeClr val="accent3">
                  <a:alpha val="0"/>
                </a:schemeClr>
              </a:gs>
              <a:gs pos="13000">
                <a:schemeClr val="accent3">
                  <a:alpha val="6645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97E899-9AFD-222A-8F3D-5ED6AFB08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567895-4C9E-403A-3B8E-A7C0E9C7A7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Espace réservé du graphique 5">
            <a:extLst>
              <a:ext uri="{FF2B5EF4-FFF2-40B4-BE49-F238E27FC236}">
                <a16:creationId xmlns:a16="http://schemas.microsoft.com/office/drawing/2014/main" id="{4E6D8AB0-65E2-1911-2D04-131867B6DEBB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57188" y="1769675"/>
            <a:ext cx="11452374" cy="4219575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6722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graph_h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D46E7A1-ECE2-8242-FAB7-000BD11FB6DF}"/>
              </a:ext>
            </a:extLst>
          </p:cNvPr>
          <p:cNvSpPr/>
          <p:nvPr/>
        </p:nvSpPr>
        <p:spPr>
          <a:xfrm rot="5400000" flipH="1" flipV="1">
            <a:off x="2492" y="3325098"/>
            <a:ext cx="3530409" cy="3535394"/>
          </a:xfrm>
          <a:prstGeom prst="rect">
            <a:avLst/>
          </a:prstGeom>
          <a:gradFill flip="none" rotWithShape="1">
            <a:gsLst>
              <a:gs pos="67000">
                <a:schemeClr val="accent5">
                  <a:alpha val="0"/>
                </a:schemeClr>
              </a:gs>
              <a:gs pos="13000">
                <a:schemeClr val="accent5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7EDAA6-D213-D9ED-3489-4E729AFEDEC3}"/>
              </a:ext>
            </a:extLst>
          </p:cNvPr>
          <p:cNvSpPr/>
          <p:nvPr/>
        </p:nvSpPr>
        <p:spPr>
          <a:xfrm rot="16200000" flipH="1" flipV="1">
            <a:off x="7895747" y="-3030"/>
            <a:ext cx="4293222" cy="4299284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graphique 8">
            <a:extLst>
              <a:ext uri="{FF2B5EF4-FFF2-40B4-BE49-F238E27FC236}">
                <a16:creationId xmlns:a16="http://schemas.microsoft.com/office/drawing/2014/main" id="{286573E8-0609-3BD9-9EDA-A4E2DBA98E11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155700" y="1768475"/>
            <a:ext cx="9385300" cy="42926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975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2_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7EDAA6-D213-D9ED-3489-4E729AFEDEC3}"/>
              </a:ext>
            </a:extLst>
          </p:cNvPr>
          <p:cNvSpPr/>
          <p:nvPr userDrawn="1"/>
        </p:nvSpPr>
        <p:spPr>
          <a:xfrm rot="16200000" flipH="1" flipV="1">
            <a:off x="8493466" y="-2609"/>
            <a:ext cx="3695924" cy="3701143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3" name="Picture 2" descr="A blue and green planet&#10;&#10;AI-generated content may be incorrect.">
            <a:extLst>
              <a:ext uri="{FF2B5EF4-FFF2-40B4-BE49-F238E27FC236}">
                <a16:creationId xmlns:a16="http://schemas.microsoft.com/office/drawing/2014/main" id="{799200D8-54AD-AE19-8AC5-FBC227CE8D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 flipH="1" flipV="1">
            <a:off x="0" y="1445400"/>
            <a:ext cx="6192592" cy="5412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4E4A48-B3C9-B942-90EF-ECA811FD1626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7" name="Espace réservé du graphique 8">
            <a:extLst>
              <a:ext uri="{FF2B5EF4-FFF2-40B4-BE49-F238E27FC236}">
                <a16:creationId xmlns:a16="http://schemas.microsoft.com/office/drawing/2014/main" id="{E1C0FF76-A11D-643F-0CE4-399C64970A20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275108" y="1968794"/>
            <a:ext cx="3814478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0" name="Espace réservé du graphique 8">
            <a:extLst>
              <a:ext uri="{FF2B5EF4-FFF2-40B4-BE49-F238E27FC236}">
                <a16:creationId xmlns:a16="http://schemas.microsoft.com/office/drawing/2014/main" id="{4A6349C4-5CD4-0971-9174-E93C86801D5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862150" y="1968793"/>
            <a:ext cx="3814478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293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_3_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C6F6576-7A2E-BF11-F427-1A224CC0F784}"/>
              </a:ext>
            </a:extLst>
          </p:cNvPr>
          <p:cNvSpPr/>
          <p:nvPr userDrawn="1"/>
        </p:nvSpPr>
        <p:spPr>
          <a:xfrm rot="16200000" flipH="1" flipV="1">
            <a:off x="8493466" y="-2609"/>
            <a:ext cx="3695924" cy="3701143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18" name="Picture 2" descr="A blue and green planet&#10;&#10;AI-generated content may be incorrect.">
            <a:extLst>
              <a:ext uri="{FF2B5EF4-FFF2-40B4-BE49-F238E27FC236}">
                <a16:creationId xmlns:a16="http://schemas.microsoft.com/office/drawing/2014/main" id="{6A76A5A6-7C90-587B-5DCC-744E585C79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 flipH="1" flipV="1">
            <a:off x="0" y="1445400"/>
            <a:ext cx="6192592" cy="5412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graphique 8">
            <a:extLst>
              <a:ext uri="{FF2B5EF4-FFF2-40B4-BE49-F238E27FC236}">
                <a16:creationId xmlns:a16="http://schemas.microsoft.com/office/drawing/2014/main" id="{286573E8-0609-3BD9-9EDA-A4E2DBA98E11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11490" y="1993538"/>
            <a:ext cx="3311106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0" name="Espace réservé du graphique 8">
            <a:extLst>
              <a:ext uri="{FF2B5EF4-FFF2-40B4-BE49-F238E27FC236}">
                <a16:creationId xmlns:a16="http://schemas.microsoft.com/office/drawing/2014/main" id="{BE296104-89B9-E3FE-4CF5-1C7AF6CF264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042694" y="1993538"/>
            <a:ext cx="3311106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1" name="Espace réservé du graphique 8">
            <a:extLst>
              <a:ext uri="{FF2B5EF4-FFF2-40B4-BE49-F238E27FC236}">
                <a16:creationId xmlns:a16="http://schemas.microsoft.com/office/drawing/2014/main" id="{3A018F94-1511-FABB-B2F8-AFF665A3C94A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299285" y="1993538"/>
            <a:ext cx="3311106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9994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4_graph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A blue and green planet&#10;&#10;AI-generated content may be incorrect.">
            <a:extLst>
              <a:ext uri="{FF2B5EF4-FFF2-40B4-BE49-F238E27FC236}">
                <a16:creationId xmlns:a16="http://schemas.microsoft.com/office/drawing/2014/main" id="{3F6E033E-77DF-9B10-389F-DA12DD20B8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 flipH="1" flipV="1">
            <a:off x="0" y="1445400"/>
            <a:ext cx="6192592" cy="5412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926810A-51BE-4581-3D89-E177CF8B5343}"/>
              </a:ext>
            </a:extLst>
          </p:cNvPr>
          <p:cNvSpPr/>
          <p:nvPr userDrawn="1"/>
        </p:nvSpPr>
        <p:spPr>
          <a:xfrm rot="16200000" flipH="1" flipV="1">
            <a:off x="8493466" y="-2609"/>
            <a:ext cx="3695924" cy="3701143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97E899-9AFD-222A-8F3D-5ED6AFB08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567895-4C9E-403A-3B8E-A7C0E9C7A7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Espace réservé du graphique 8">
            <a:extLst>
              <a:ext uri="{FF2B5EF4-FFF2-40B4-BE49-F238E27FC236}">
                <a16:creationId xmlns:a16="http://schemas.microsoft.com/office/drawing/2014/main" id="{4F8DDB78-8E7E-57B2-3471-0FE4853291D5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75060" y="1993539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graphique 8">
            <a:extLst>
              <a:ext uri="{FF2B5EF4-FFF2-40B4-BE49-F238E27FC236}">
                <a16:creationId xmlns:a16="http://schemas.microsoft.com/office/drawing/2014/main" id="{1730DDDB-CBCA-F208-DCB8-BD404E57FAD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54750" y="1993538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0" name="Espace réservé du graphique 8">
            <a:extLst>
              <a:ext uri="{FF2B5EF4-FFF2-40B4-BE49-F238E27FC236}">
                <a16:creationId xmlns:a16="http://schemas.microsoft.com/office/drawing/2014/main" id="{1F4A12B4-EDD4-2A10-175E-C4D46BFB8103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264905" y="1993539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1" name="Espace réservé du graphique 8">
            <a:extLst>
              <a:ext uri="{FF2B5EF4-FFF2-40B4-BE49-F238E27FC236}">
                <a16:creationId xmlns:a16="http://schemas.microsoft.com/office/drawing/2014/main" id="{FD0E334E-4EA2-7B16-BB76-9367A649259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9141958" y="1993537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1069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C788F2B-3332-FC72-70D7-6F005F1F5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7E46B7-7836-E1F9-9ECC-B6163C7A54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6CF1B-4EDE-405C-B40E-340275693B51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050881-98AA-E45E-0DF7-6AC06A133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5A0786-DD99-BA7A-214A-FF793CACF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1E901-318D-40B6-ABD2-DA774725AC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5835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7" r:id="rId3"/>
    <p:sldLayoutId id="2147483671" r:id="rId4"/>
    <p:sldLayoutId id="2147483665" r:id="rId5"/>
    <p:sldLayoutId id="2147483669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Relationship Id="rId5" Type="http://schemas.openxmlformats.org/officeDocument/2006/relationships/chart" Target="../charts/char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A32AE7F7-CF74-775C-E0AE-607FDEE99B49}"/>
              </a:ext>
            </a:extLst>
          </p:cNvPr>
          <p:cNvSpPr txBox="1">
            <a:spLocks/>
          </p:cNvSpPr>
          <p:nvPr/>
        </p:nvSpPr>
        <p:spPr>
          <a:xfrm>
            <a:off x="253554" y="1253165"/>
            <a:ext cx="5727113" cy="3155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6250" indent="-252413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800" b="0" i="0" kern="1200" cap="all" baseline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4pPr>
            <a:lvl5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200" b="0" i="0" kern="1200" cap="all" spc="200" baseline="0">
                <a:solidFill>
                  <a:schemeClr val="tx2"/>
                </a:solidFill>
                <a:latin typeface="WPP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800" noProof="0" dirty="0">
              <a:latin typeface="+mj-lt"/>
            </a:endParaRPr>
          </a:p>
          <a:p>
            <a:endParaRPr lang="fr-FR" sz="2800" noProof="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357188" y="1769675"/>
          <a:ext cx="11452374" cy="42195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C089232E-E5ED-A396-4652-ED18FDEAC653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E6A595E-A5AF-BBA4-2CB0-FDF291D6E83A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357188" y="1769675"/>
          <a:ext cx="11452374" cy="42195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C089232E-E5ED-A396-4652-ED18FDEAC653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E6A595E-A5AF-BBA4-2CB0-FDF291D6E83A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1155700" y="1768475"/>
          <a:ext cx="9385300" cy="4292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357188" y="1769675"/>
          <a:ext cx="11452374" cy="42195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C089232E-E5ED-A396-4652-ED18FDEAC653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E6A595E-A5AF-BBA4-2CB0-FDF291D6E83A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357188" y="1769675"/>
          <a:ext cx="11452374" cy="42195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C089232E-E5ED-A396-4652-ED18FDEAC653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E6A595E-A5AF-BBA4-2CB0-FDF291D6E83A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1155700" y="1768475"/>
          <a:ext cx="9385300" cy="4292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A32AE7F7-CF74-775C-E0AE-607FDEE99B49}"/>
              </a:ext>
            </a:extLst>
          </p:cNvPr>
          <p:cNvSpPr txBox="1">
            <a:spLocks/>
          </p:cNvSpPr>
          <p:nvPr/>
        </p:nvSpPr>
        <p:spPr>
          <a:xfrm>
            <a:off x="253554" y="1253165"/>
            <a:ext cx="5727113" cy="3155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6250" indent="-252413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800" b="0" i="0" kern="1200" cap="all" baseline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4pPr>
            <a:lvl5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200" b="0" i="0" kern="1200" cap="all" spc="200" baseline="0">
                <a:solidFill>
                  <a:schemeClr val="tx2"/>
                </a:solidFill>
                <a:latin typeface="WPP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800" noProof="0" dirty="0">
              <a:latin typeface="+mj-lt"/>
            </a:endParaRPr>
          </a:p>
          <a:p>
            <a:endParaRPr lang="fr-FR" sz="2800" noProof="0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275060" y="1993539"/>
          <a:ext cx="2709680" cy="405996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Placeholder 3"/>
          <p:cNvGraphicFramePr>
            <a:graphicFrameLocks noGrp="1"/>
          </p:cNvGraphicFramePr>
          <p:nvPr>
            <p:ph type="chart" idx="13" sz="quarter"/>
          </p:nvPr>
        </p:nvGraphicFramePr>
        <p:xfrm>
          <a:off x="6254750" y="1993538"/>
          <a:ext cx="2709680" cy="405996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Placeholder 4"/>
          <p:cNvGraphicFramePr>
            <a:graphicFrameLocks noGrp="1"/>
          </p:cNvGraphicFramePr>
          <p:nvPr>
            <p:ph type="chart" idx="14" sz="quarter"/>
          </p:nvPr>
        </p:nvGraphicFramePr>
        <p:xfrm>
          <a:off x="3264905" y="1993539"/>
          <a:ext cx="2709680" cy="405996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Chart Placeholder 5"/>
          <p:cNvGraphicFramePr>
            <a:graphicFrameLocks noGrp="1"/>
          </p:cNvGraphicFramePr>
          <p:nvPr>
            <p:ph type="chart" idx="15" sz="quarter"/>
          </p:nvPr>
        </p:nvGraphicFramePr>
        <p:xfrm>
          <a:off x="9141958" y="1993537"/>
          <a:ext cx="2709680" cy="4059961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7" name="Rectangle 6"/>
          <p:cNvSpPr/>
          <p:nvPr/>
        </p:nvSpPr>
        <p:spPr>
          <a:xfrm>
            <a:off x="2095500" y="6479540"/>
            <a:ext cx="127000" cy="127000"/>
          </a:xfrm>
          <a:prstGeom prst="rect">
            <a:avLst/>
          </a:prstGeom>
          <a:solidFill>
            <a:srgbClr val="C7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73300" y="6365240"/>
            <a:ext cx="152400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04078"/>
                </a:solidFill>
              </a:rPr>
              <a:t>Une excellente opinion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5900" y="6479540"/>
            <a:ext cx="127000" cy="127000"/>
          </a:xfrm>
          <a:prstGeom prst="rect">
            <a:avLst/>
          </a:prstGeom>
          <a:solidFill>
            <a:srgbClr val="184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3700" y="6365240"/>
            <a:ext cx="158750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04078"/>
                </a:solidFill>
              </a:rPr>
              <a:t>Une assez bonne opinion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19800" y="6479540"/>
            <a:ext cx="127000" cy="127000"/>
          </a:xfrm>
          <a:prstGeom prst="rect">
            <a:avLst/>
          </a:prstGeom>
          <a:solidFill>
            <a:srgbClr val="72A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7600" y="6365240"/>
            <a:ext cx="177800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04078"/>
                </a:solidFill>
              </a:rPr>
              <a:t>Une assez mauvaise opinion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4200" y="6479540"/>
            <a:ext cx="127000" cy="127000"/>
          </a:xfrm>
          <a:prstGeom prst="rect">
            <a:avLst/>
          </a:prstGeom>
          <a:solidFill>
            <a:srgbClr val="A82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0" y="6365240"/>
            <a:ext cx="171450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04078"/>
                </a:solidFill>
              </a:rPr>
              <a:t>Une très mauvaise opinion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1155700" y="1768475"/>
          <a:ext cx="9385300" cy="4292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1">
      <a:dk1>
        <a:srgbClr val="000050"/>
      </a:dk1>
      <a:lt1>
        <a:sysClr val="window" lastClr="FFFFFF"/>
      </a:lt1>
      <a:dk2>
        <a:srgbClr val="0E2841"/>
      </a:dk2>
      <a:lt2>
        <a:srgbClr val="E8F1F4"/>
      </a:lt2>
      <a:accent1>
        <a:srgbClr val="B0F467"/>
      </a:accent1>
      <a:accent2>
        <a:srgbClr val="93DFE3"/>
      </a:accent2>
      <a:accent3>
        <a:srgbClr val="5465FF"/>
      </a:accent3>
      <a:accent4>
        <a:srgbClr val="788BFF"/>
      </a:accent4>
      <a:accent5>
        <a:srgbClr val="00DBEE"/>
      </a:accent5>
      <a:accent6>
        <a:srgbClr val="FCFE67"/>
      </a:accent6>
      <a:hlink>
        <a:srgbClr val="00DBEE"/>
      </a:hlink>
      <a:folHlink>
        <a:srgbClr val="00DBE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Grand écran</PresentationFormat>
  <Paragraphs>2</Paragraphs>
  <Slides>6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Louise Le</dc:creator>
  <cp:lastModifiedBy>Louise Le</cp:lastModifiedBy>
  <cp:revision>11</cp:revision>
  <dcterms:created xsi:type="dcterms:W3CDTF">2026-04-22T09:22:27Z</dcterms:created>
  <dcterms:modified xsi:type="dcterms:W3CDTF">2026-04-22T15:27:25Z</dcterms:modified>
</cp:coreProperties>
</file>